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dPt>
            <c:idx val="2"/>
            <c:spPr>
              <a:solidFill>
                <a:srgbClr val="BFDBFE"/>
              </a:solidFill>
            </c:spPr>
          </c:dPt>
          <c:cat>
            <c:strRef>
              <c:f>Sheet1!$A$2:$A$4</c:f>
              <c:strCache>
                <c:ptCount val="3"/>
                <c:pt idx="0">
                  <c:v>Teacher Time</c:v>
                </c:pt>
                <c:pt idx="1">
                  <c:v>Engagement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18181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BFDBFE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Sales</c:v>
                </c:pt>
                <c:pt idx="2">
                  <c:v>Onboarding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640080"/>
            <a:ext cx="14447520" cy="8412480"/>
          </a:xfrm>
          <a:prstGeom prst="ellipse">
            <a:avLst/>
          </a:prstGeom>
          <a:solidFill>
            <a:srgbClr val="18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992" y="1115568"/>
            <a:ext cx="10012680" cy="42976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" y="1060704"/>
            <a:ext cx="10012680" cy="4297680"/>
          </a:xfrm>
          <a:prstGeom prst="roundRect">
            <a:avLst/>
          </a:prstGeom>
          <a:solidFill>
            <a:srgbClr val="282931"/>
          </a:solidFill>
          <a:ln>
            <a:solidFill>
              <a:srgbClr val="46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44752"/>
            <a:ext cx="8412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0" i="0">
                <a:solidFill>
                  <a:srgbClr val="FFFFFF"/>
                </a:solidFill>
                <a:latin typeface="Segoe Script"/>
              </a:defRPr>
            </a:pPr>
            <a:r>
              <a:t>Teacher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87168"/>
            <a:ext cx="8869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Segoe Script"/>
              </a:defRPr>
            </a:pPr>
            <a:r>
              <a:t>AI-Powered Teacher Productivity &amp; Student Learning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3401568"/>
            <a:ext cx="4937760" cy="18288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3364992"/>
            <a:ext cx="49377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4142232"/>
            <a:ext cx="4407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 i="1">
                <a:solidFill>
                  <a:srgbClr val="18181B"/>
                </a:solidFill>
                <a:latin typeface="Segoe Script"/>
              </a:defRPr>
            </a:pPr>
            <a:r>
              <a:t>Pan-African rollout</a:t>
            </a:r>
          </a:p>
        </p:txBody>
      </p:sp>
      <p:sp>
        <p:nvSpPr>
          <p:cNvPr id="11" name="Oval 10"/>
          <p:cNvSpPr/>
          <p:nvPr/>
        </p:nvSpPr>
        <p:spPr>
          <a:xfrm>
            <a:off x="4178807" y="3813048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379476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47488" y="4087368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0" y="406908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88736" y="3721607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70448" y="370332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1968" y="4059935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4041648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43215" y="3904487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24927" y="3886200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4242816"/>
            <a:ext cx="210312" cy="2103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5008" y="4224528"/>
            <a:ext cx="210312" cy="2103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6428232"/>
            <a:ext cx="8503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 i="0">
                <a:solidFill>
                  <a:srgbClr val="FFFFFF"/>
                </a:solidFill>
                <a:latin typeface="Segoe Script"/>
              </a:defRPr>
            </a:pPr>
            <a:r>
              <a:t>Empowering teachers and transforming learning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97864"/>
            <a:ext cx="5715000" cy="493776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7150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Teachers overloaded with manual grading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Delayed feedback and generic responses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Limited insights for personalized learning</a:t>
            </a:r>
          </a:p>
          <a:p>
            <a:pPr>
              <a:spcAft>
                <a:spcPts val="1400"/>
              </a:spcAft>
              <a:defRPr sz="2400">
                <a:solidFill>
                  <a:srgbClr val="18181B"/>
                </a:solidFill>
                <a:latin typeface="Inter"/>
              </a:defRPr>
            </a:pPr>
            <a:r>
              <a:t>Students unaware of learning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257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blem_563x5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243584"/>
            <a:ext cx="5148072" cy="478231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Inter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Mission &amp;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61872"/>
            <a:ext cx="5715000" cy="48006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7150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Inter SemiBold"/>
              </a:defRPr>
            </a:pPr>
            <a:r>
              <a:t>Mission: Empower teachers to transform learning with AI</a:t>
            </a:r>
          </a:p>
          <a:p>
            <a:pPr>
              <a:spcBef>
                <a:spcPts val="3000"/>
              </a:spcBef>
              <a:defRPr sz="2500" b="1">
                <a:solidFill>
                  <a:srgbClr val="18181B"/>
                </a:solidFill>
                <a:latin typeface="Inter SemiBold"/>
              </a:defRPr>
            </a:pPr>
            <a:r>
              <a:t>Vision: A future where every student receives personalized education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53312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ission_56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408176"/>
            <a:ext cx="5148072" cy="44165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37376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Inter SemiBold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AFAFA"/>
                </a:solidFill>
                <a:latin typeface="Inter SemiBold"/>
              </a:defRPr>
            </a:pPr>
            <a:r>
              <a:t>Teacher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71717A"/>
                </a:solidFill>
                <a:latin typeface="Inter SemiBold"/>
              </a:defRPr>
            </a:pPr>
            <a:r>
              <a:t>Current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1887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2563EB"/>
                </a:solidFill>
                <a:latin typeface="Inter SemiBold"/>
              </a:defRPr>
            </a:pPr>
            <a:r>
              <a:t>Optimized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19072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91640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Manual 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19072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91640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975104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AI Grading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21808" y="1911095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026664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999232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82696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Basic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026664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2999232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282696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Instant Feedback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21808" y="3218688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334256"/>
            <a:ext cx="448056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306824"/>
            <a:ext cx="4480560" cy="914400"/>
          </a:xfrm>
          <a:prstGeom prst="roundRect">
            <a:avLst/>
          </a:prstGeom>
          <a:solidFill>
            <a:srgbClr val="F4F4F5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8181B"/>
                </a:solidFill>
                <a:latin typeface="Inter SemiBold"/>
              </a:defRPr>
            </a:pPr>
            <a:r>
              <a:t>Slow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34256"/>
            <a:ext cx="4846320" cy="9144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4306824"/>
            <a:ext cx="484632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5902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1E40AF"/>
                </a:solidFill>
                <a:latin typeface="Inter SemiBold"/>
              </a:defRPr>
            </a:pPr>
            <a:r>
              <a:t>Analytics &amp; Alerts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21808" y="4526280"/>
            <a:ext cx="914400" cy="475488"/>
          </a:xfrm>
          <a:prstGeom prst="rightArrow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Market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53312"/>
            <a:ext cx="557784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577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pezoid 9"/>
          <p:cNvSpPr/>
          <p:nvPr/>
        </p:nvSpPr>
        <p:spPr>
          <a:xfrm>
            <a:off x="1188720" y="1828800"/>
            <a:ext cx="4297680" cy="1097280"/>
          </a:xfrm>
          <a:prstGeom prst="trapezoid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84248"/>
            <a:ext cx="39319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TAM</a:t>
            </a:r>
            <a:br/>
            <a:r>
              <a:t>2.5M Schools</a:t>
            </a:r>
            <a:br/>
            <a:r>
              <a:t>$600M+</a:t>
            </a:r>
          </a:p>
        </p:txBody>
      </p:sp>
      <p:sp>
        <p:nvSpPr>
          <p:cNvPr id="12" name="Trapezoid 11"/>
          <p:cNvSpPr/>
          <p:nvPr/>
        </p:nvSpPr>
        <p:spPr>
          <a:xfrm>
            <a:off x="1463040" y="2999232"/>
            <a:ext cx="3749039" cy="1005840"/>
          </a:xfrm>
          <a:prstGeom prst="trapezoid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154679"/>
            <a:ext cx="33832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SAM</a:t>
            </a:r>
            <a:br/>
            <a:r>
              <a:t>Targetable 32M Schools</a:t>
            </a:r>
          </a:p>
        </p:txBody>
      </p:sp>
      <p:sp>
        <p:nvSpPr>
          <p:cNvPr id="14" name="Trapezoid 13"/>
          <p:cNvSpPr/>
          <p:nvPr/>
        </p:nvSpPr>
        <p:spPr>
          <a:xfrm>
            <a:off x="1737360" y="4050791"/>
            <a:ext cx="3200400" cy="914400"/>
          </a:xfrm>
          <a:prstGeom prst="trapezoid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20624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 SemiBold"/>
              </a:defRPr>
            </a:pPr>
            <a:r>
              <a:t>SOM</a:t>
            </a:r>
            <a:br/>
            <a:r>
              <a:t>Pilot 5 Schools</a:t>
            </a:r>
            <a:br/>
            <a:r>
              <a:t>$20M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399032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rket_553x4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3" y="1453896"/>
            <a:ext cx="5056632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Business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73352"/>
            <a:ext cx="5029200" cy="3063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0292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18181B"/>
                </a:solidFill>
                <a:latin typeface="Inter SemiBold"/>
              </a:defRPr>
            </a:pPr>
            <a:r>
              <a:t>B2B (Schools)</a:t>
            </a:r>
            <a:br/>
            <a:r>
              <a:t>$6,000 per school/year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15968"/>
            <a:ext cx="50292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673352"/>
            <a:ext cx="5029200" cy="3063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50292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39112"/>
            <a:ext cx="4572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 i="0">
                <a:solidFill>
                  <a:srgbClr val="18181B"/>
                </a:solidFill>
                <a:latin typeface="Inter SemiBold"/>
              </a:defRPr>
            </a:pPr>
            <a:r>
              <a:t>B2G (Government)</a:t>
            </a:r>
            <a:br/>
            <a:r>
              <a:t>$600,000 per country/year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315968"/>
            <a:ext cx="502920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Value Proposition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76072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76072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Teachers: Save time and actionable insights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Students: Personalized learning support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For Schools &amp; Governments: Scalable cost efficiency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4937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alue_52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1563624"/>
            <a:ext cx="48280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5 schools launched in Rwanda &amp; Ghana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Pipeline: 10 schools in Senegal &amp; Kenya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Positive pilot results with high teacher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action_558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563624"/>
            <a:ext cx="510235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Revenue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669280" cy="1005840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11095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$5.4M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34056"/>
            <a:ext cx="5669280" cy="10058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0837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99232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$14.4M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22191"/>
            <a:ext cx="566928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96511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 SemiBold"/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87368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Inter SemiBold"/>
              </a:defRPr>
            </a:pPr>
            <a:r>
              <a:t>$248M+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389120"/>
            <a:ext cx="512064" cy="1097280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3703320"/>
            <a:ext cx="512064" cy="17830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33104" y="2926080"/>
            <a:ext cx="512064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6537960" y="2926080"/>
            <a:ext cx="4480560" cy="2697480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Go-To-Market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$5.4M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$14.4M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983480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8181B"/>
                </a:solidFill>
                <a:latin typeface="Inter SemiBold"/>
              </a:defRPr>
            </a:pPr>
            <a: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62656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 i="0">
                <a:solidFill>
                  <a:srgbClr val="18181B"/>
                </a:solidFill>
                <a:latin typeface="Inter SemiBold"/>
              </a:defRPr>
            </a:pPr>
            <a:r>
              <a:t>$248M+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206240"/>
            <a:ext cx="493776" cy="64008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023359"/>
            <a:ext cx="493776" cy="82296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383279"/>
            <a:ext cx="493776" cy="146304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3383279"/>
            <a:ext cx="493776" cy="14630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2880360"/>
            <a:ext cx="493776" cy="1965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31720"/>
            <a:ext cx="493776" cy="2514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1920239"/>
            <a:ext cx="493776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731520" y="1828800"/>
            <a:ext cx="10469880" cy="2926080"/>
          </a:xfrm>
          <a:prstGeom prst="up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Technology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700784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1682496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AI Grading Engine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7004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Analytics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657600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Cloud-Based Platform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663440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645152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 i="0">
                <a:solidFill>
                  <a:srgbClr val="18181B"/>
                </a:solidFill>
                <a:latin typeface="Inter SemiBold"/>
              </a:defRPr>
            </a:pPr>
            <a:r>
              <a:t>LMS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0876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echnology_553x4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563624"/>
            <a:ext cx="5056632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Impact &amp;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566928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669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52120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Teacher hours saved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Student engagement +40%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Faster feedback: 75% reduction</a:t>
            </a:r>
          </a:p>
          <a:p>
            <a:pPr>
              <a:spcAft>
                <a:spcPts val="1600"/>
              </a:spcAft>
              <a:defRPr sz="2300">
                <a:solidFill>
                  <a:srgbClr val="18181B"/>
                </a:solidFill>
                <a:latin typeface="Inter"/>
              </a:defRPr>
            </a:pPr>
            <a:r>
              <a:t>Improved outcomes across pilot schools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720840" y="1554480"/>
          <a:ext cx="4663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Funding 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99032"/>
            <a:ext cx="4663440" cy="457200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46634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Raising $3M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Product development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Sales &amp; marketing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School onboarding</a:t>
            </a:r>
          </a:p>
          <a:p>
            <a:pPr>
              <a:spcAft>
                <a:spcPts val="1400"/>
              </a:spcAft>
              <a:defRPr sz="2200">
                <a:solidFill>
                  <a:srgbClr val="18181B"/>
                </a:solidFill>
                <a:latin typeface="Inter"/>
              </a:defRPr>
            </a:pPr>
            <a:r>
              <a:t>Operations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66360" y="1828800"/>
          <a:ext cx="3566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823960" y="1554480"/>
            <a:ext cx="2697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rket_283x4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1609344"/>
            <a:ext cx="258775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Our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m_1_248x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755648"/>
            <a:ext cx="2267712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Founder &amp; CEO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4448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am_2_248x3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3" y="1755648"/>
            <a:ext cx="2267712" cy="2999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75887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1968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am_3_248x3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1" y="1755648"/>
            <a:ext cx="2267712" cy="29992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28816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Head of Partnerships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1490472"/>
            <a:ext cx="2697480" cy="46634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1463040"/>
            <a:ext cx="2697480" cy="4663440"/>
          </a:xfrm>
          <a:prstGeom prst="roundRect">
            <a:avLst/>
          </a:prstGeom>
          <a:solidFill>
            <a:srgbClr val="FAFBFC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54896" y="1700784"/>
            <a:ext cx="237744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eam_4_248x3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755648"/>
            <a:ext cx="2267712" cy="29992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81744" y="502920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8181B"/>
                </a:solidFill>
                <a:latin typeface="Inter SemiBold"/>
              </a:defRPr>
            </a:pPr>
            <a:r>
              <a:t>Education Advisors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846320"/>
            <a:ext cx="4937760" cy="310896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"/>
            <a:ext cx="4023360" cy="2560320"/>
          </a:xfrm>
          <a:prstGeom prst="ellipse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49808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8872"/>
            <a:ext cx="795527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AFAFA"/>
                </a:solidFill>
                <a:latin typeface="Inter SemiBold"/>
              </a:defRPr>
            </a:pPr>
            <a:r>
              <a:t>Join Us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"/>
            <a:ext cx="4069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AFAFA"/>
                </a:solidFill>
                <a:latin typeface="Inter SemiBold"/>
              </a:defRPr>
            </a:pPr>
            <a:r>
              <a:t>Transform African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5669280" cy="4206240"/>
          </a:xfrm>
          <a:prstGeom prst="round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5669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1">
                <a:solidFill>
                  <a:srgbClr val="18181B"/>
                </a:solidFill>
                <a:latin typeface="Inter SemiBold"/>
              </a:defRPr>
            </a:pPr>
            <a:r>
              <a:t>Partner with us</a:t>
            </a:r>
            <a:br/>
            <a:r>
              <a:t>To empower teachers &amp;</a:t>
            </a:r>
            <a:br/>
            <a:r>
              <a:t>students across Africa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osing_558x3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00784"/>
            <a:ext cx="5102352" cy="35021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Inter SemiBold"/>
              </a:defRPr>
            </a:pPr>
            <a:r>
              <a:t>Contact Us: email@example.com  |  www.teachercopilot.com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