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Impact</c:v>
                </c:pt>
              </c:strCache>
            </c:strRef>
          </c:tx>
          <c:dPt>
            <c:idx val="0"/>
            <c:spPr>
              <a:solidFill>
                <a:srgbClr val="3B7EBF"/>
              </a:solidFill>
            </c:spPr>
          </c:dPt>
          <c:dPt>
            <c:idx val="1"/>
            <c:spPr>
              <a:solidFill>
                <a:srgbClr val="279E53"/>
              </a:solidFill>
            </c:spPr>
          </c:dPt>
          <c:dPt>
            <c:idx val="2"/>
            <c:spPr>
              <a:solidFill>
                <a:srgbClr val="B4D2EB"/>
              </a:solidFill>
            </c:spPr>
          </c:dPt>
          <c:cat>
            <c:strRef>
              <c:f>Sheet1!$A$2:$A$4</c:f>
              <c:strCache>
                <c:ptCount val="3"/>
                <c:pt idx="0">
                  <c:v>Teacher Time</c:v>
                </c:pt>
                <c:pt idx="1">
                  <c:v>Engagement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40</c:v>
                </c:pt>
                <c:pt idx="2">
                  <c:v>10</c:v>
                </c:pt>
              </c:numCache>
            </c:numRef>
          </c:val>
        </c:ser>
        <c:dLbls>
          <c:numFmt formatCode="0%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dPt>
            <c:idx val="0"/>
            <c:spPr>
              <a:solidFill>
                <a:srgbClr val="DC911D"/>
              </a:solidFill>
            </c:spPr>
          </c:dPt>
          <c:dPt>
            <c:idx val="1"/>
            <c:spPr>
              <a:solidFill>
                <a:srgbClr val="3484C6"/>
              </a:solidFill>
            </c:spPr>
          </c:dPt>
          <c:dPt>
            <c:idx val="2"/>
            <c:spPr>
              <a:solidFill>
                <a:srgbClr val="279E53"/>
              </a:solidFill>
            </c:spPr>
          </c:dPt>
          <c:dPt>
            <c:idx val="3"/>
            <c:spPr>
              <a:solidFill>
                <a:srgbClr val="A6C4E7"/>
              </a:solidFill>
            </c:spPr>
          </c:dPt>
          <c:cat>
            <c:strRef>
              <c:f>Sheet1!$A$2:$A$5</c:f>
              <c:strCache>
                <c:ptCount val="4"/>
                <c:pt idx="0">
                  <c:v>Product</c:v>
                </c:pt>
                <c:pt idx="1">
                  <c:v>Sales</c:v>
                </c:pt>
                <c:pt idx="2">
                  <c:v>Onboarding</c:v>
                </c:pt>
                <c:pt idx="3">
                  <c:v>Operations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dLbls>
          <c:numFmt formatCode="0%" sourceLinked="0"/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217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t>Teacher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AI-Powered Teacher Productivity &amp; Student Learning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743200"/>
            <a:ext cx="5394960" cy="2743200"/>
          </a:xfrm>
          <a:prstGeom prst="roundRect">
            <a:avLst/>
          </a:prstGeom>
          <a:solidFill>
            <a:srgbClr val="B2E0AD"/>
          </a:solidFill>
          <a:ln>
            <a:solidFill>
              <a:srgbClr val="5792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38862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346434"/>
                </a:solidFill>
                <a:latin typeface="Calibri"/>
              </a:defRPr>
            </a:pPr>
            <a:r>
              <a:t>Africa rollout map</a:t>
            </a:r>
          </a:p>
        </p:txBody>
      </p:sp>
      <p:sp>
        <p:nvSpPr>
          <p:cNvPr id="8" name="Oval 7"/>
          <p:cNvSpPr/>
          <p:nvPr/>
        </p:nvSpPr>
        <p:spPr>
          <a:xfrm>
            <a:off x="3840480" y="3200400"/>
            <a:ext cx="237744" cy="237744"/>
          </a:xfrm>
          <a:prstGeom prst="ellipse">
            <a:avLst/>
          </a:prstGeom>
          <a:solidFill>
            <a:srgbClr val="E98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846320" y="3566160"/>
            <a:ext cx="237744" cy="237744"/>
          </a:xfrm>
          <a:prstGeom prst="ellipse">
            <a:avLst/>
          </a:prstGeom>
          <a:solidFill>
            <a:srgbClr val="E98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52160" y="3108960"/>
            <a:ext cx="237744" cy="237744"/>
          </a:xfrm>
          <a:prstGeom prst="ellipse">
            <a:avLst/>
          </a:prstGeom>
          <a:solidFill>
            <a:srgbClr val="E98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66560" y="3840480"/>
            <a:ext cx="237744" cy="237744"/>
          </a:xfrm>
          <a:prstGeom prst="ellipse">
            <a:avLst/>
          </a:prstGeom>
          <a:solidFill>
            <a:srgbClr val="E98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79" y="3383280"/>
            <a:ext cx="237744" cy="237744"/>
          </a:xfrm>
          <a:prstGeom prst="ellipse">
            <a:avLst/>
          </a:prstGeom>
          <a:solidFill>
            <a:srgbClr val="E98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80560" y="4297680"/>
            <a:ext cx="237744" cy="237744"/>
          </a:xfrm>
          <a:prstGeom prst="ellipse">
            <a:avLst/>
          </a:prstGeom>
          <a:solidFill>
            <a:srgbClr val="E98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486400" y="4572000"/>
            <a:ext cx="237744" cy="237744"/>
          </a:xfrm>
          <a:prstGeom prst="ellipse">
            <a:avLst/>
          </a:prstGeom>
          <a:solidFill>
            <a:srgbClr val="E98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4754880"/>
            <a:ext cx="237744" cy="237744"/>
          </a:xfrm>
          <a:prstGeom prst="ellipse">
            <a:avLst/>
          </a:prstGeom>
          <a:solidFill>
            <a:srgbClr val="E98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06640" y="4389120"/>
            <a:ext cx="237744" cy="237744"/>
          </a:xfrm>
          <a:prstGeom prst="ellipse">
            <a:avLst/>
          </a:prstGeom>
          <a:solidFill>
            <a:srgbClr val="E98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91695" cy="6016752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7772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7607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Teachers overloaded with manual grading</a:t>
            </a:r>
          </a:p>
          <a:p>
            <a:pPr>
              <a:spcAft>
                <a:spcPts val="7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Delayed feedback and generic responses</a:t>
            </a:r>
          </a:p>
          <a:p>
            <a:pPr>
              <a:spcAft>
                <a:spcPts val="7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Lack of insights for personalized learning</a:t>
            </a:r>
          </a:p>
          <a:p>
            <a:pPr>
              <a:spcAft>
                <a:spcPts val="700"/>
              </a:spcAft>
              <a:defRPr sz="2400">
                <a:solidFill>
                  <a:srgbClr val="1E1E1E"/>
                </a:solidFill>
                <a:latin typeface="Calibri"/>
              </a:defRPr>
            </a:pPr>
            <a:r>
              <a:t>Students often unaware of learning gaps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34440"/>
            <a:ext cx="5120640" cy="4892040"/>
          </a:xfrm>
          <a:prstGeom prst="roundRect">
            <a:avLst/>
          </a:prstGeom>
          <a:solidFill>
            <a:srgbClr val="E6F2FC"/>
          </a:solidFill>
          <a:ln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34975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5C6A76"/>
                </a:solidFill>
                <a:latin typeface="Calibri"/>
              </a:defRPr>
            </a:pPr>
            <a:r>
              <a:t>Teacher under workload pressure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8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1">
                <a:solidFill>
                  <a:srgbClr val="FFFFFF"/>
                </a:solidFill>
                <a:latin typeface="Calibri"/>
              </a:defRPr>
            </a:pPr>
            <a:r>
              <a:t>Empowering Teachers, Transforming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91695" cy="6016752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7772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Our Mission &amp;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6692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79E53"/>
                </a:solidFill>
                <a:latin typeface="Calibri"/>
              </a:defRPr>
            </a:pPr>
            <a:r>
              <a:t>Mission: Empower teachers to transform learning with AI</a:t>
            </a:r>
          </a:p>
          <a:p>
            <a:pPr>
              <a:spcBef>
                <a:spcPts val="2600"/>
              </a:spcBef>
              <a:defRPr sz="2400" b="1">
                <a:solidFill>
                  <a:srgbClr val="B01D2C"/>
                </a:solidFill>
                <a:latin typeface="Calibri"/>
              </a:defRPr>
            </a:pPr>
            <a:r>
              <a:t>Vision: A future where every student receives personalized education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417320"/>
            <a:ext cx="4846320" cy="4160520"/>
          </a:xfrm>
          <a:prstGeom prst="roundRect">
            <a:avLst/>
          </a:prstGeom>
          <a:solidFill>
            <a:srgbClr val="E6F2FC"/>
          </a:solidFill>
          <a:ln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33147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5C6A76"/>
                </a:solidFill>
                <a:latin typeface="Calibri"/>
              </a:defRPr>
            </a:pPr>
            <a:r>
              <a:t>Teacher using AI companion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B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1">
                <a:solidFill>
                  <a:srgbClr val="FFFFFF"/>
                </a:solidFill>
                <a:latin typeface="Calibri"/>
              </a:defRPr>
            </a:pPr>
            <a:r>
              <a:t>Empowering Teachers, Transforming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91695" cy="6016752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7772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Our Solution: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1828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 i="1">
                <a:solidFill>
                  <a:srgbClr val="FFFFFF"/>
                </a:solidFill>
                <a:latin typeface="Calibri"/>
              </a:defRPr>
            </a:pPr>
            <a:r>
              <a:t>Teacher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 i="0">
                <a:solidFill>
                  <a:srgbClr val="279E53"/>
                </a:solidFill>
                <a:latin typeface="Calibri"/>
              </a:defRPr>
            </a:pPr>
            <a:r>
              <a:t>Current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23444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 i="0">
                <a:solidFill>
                  <a:srgbClr val="E98C1C"/>
                </a:solidFill>
                <a:latin typeface="Calibri"/>
              </a:defRPr>
            </a:pPr>
            <a:r>
              <a:t>Optimized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4480560" cy="914400"/>
          </a:xfrm>
          <a:prstGeom prst="roundRect">
            <a:avLst/>
          </a:prstGeom>
          <a:solidFill>
            <a:srgbClr val="279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11679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Manual Grading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37360"/>
            <a:ext cx="4663440" cy="914400"/>
          </a:xfrm>
          <a:prstGeom prst="roundRect">
            <a:avLst/>
          </a:prstGeom>
          <a:solidFill>
            <a:srgbClr val="E98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79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AI Grading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349240" y="1947672"/>
            <a:ext cx="914400" cy="493776"/>
          </a:xfrm>
          <a:prstGeom prst="rightArrow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063239"/>
            <a:ext cx="4480560" cy="914400"/>
          </a:xfrm>
          <a:prstGeom prst="roundRect">
            <a:avLst/>
          </a:prstGeom>
          <a:solidFill>
            <a:srgbClr val="279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37559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Basic Feedback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063239"/>
            <a:ext cx="4663440" cy="914400"/>
          </a:xfrm>
          <a:prstGeom prst="roundRect">
            <a:avLst/>
          </a:prstGeom>
          <a:solidFill>
            <a:srgbClr val="E98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337559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Instant Feedback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349240" y="3273551"/>
            <a:ext cx="914400" cy="493776"/>
          </a:xfrm>
          <a:prstGeom prst="rightArrow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4480560" cy="914400"/>
          </a:xfrm>
          <a:prstGeom prst="roundRect">
            <a:avLst/>
          </a:prstGeom>
          <a:solidFill>
            <a:srgbClr val="279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66344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Slow Reports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389120"/>
            <a:ext cx="4663440" cy="914400"/>
          </a:xfrm>
          <a:prstGeom prst="roundRect">
            <a:avLst/>
          </a:prstGeom>
          <a:solidFill>
            <a:srgbClr val="E98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66344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Analytics &amp; Alerts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349240" y="4599432"/>
            <a:ext cx="914400" cy="493776"/>
          </a:xfrm>
          <a:prstGeom prst="rightArrow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91695" cy="6016752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7772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6" name="Trapezoid 5"/>
          <p:cNvSpPr/>
          <p:nvPr/>
        </p:nvSpPr>
        <p:spPr>
          <a:xfrm>
            <a:off x="1371600" y="1828800"/>
            <a:ext cx="4389120" cy="1097280"/>
          </a:xfrm>
          <a:prstGeom prst="trapezoid">
            <a:avLst/>
          </a:prstGeom>
          <a:solidFill>
            <a:srgbClr val="1B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93392"/>
            <a:ext cx="4023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TAM</a:t>
            </a:r>
            <a:br/>
            <a:r>
              <a:t>2.5M Schools</a:t>
            </a:r>
            <a:br/>
            <a:r>
              <a:t>$600M+</a:t>
            </a:r>
          </a:p>
        </p:txBody>
      </p:sp>
      <p:sp>
        <p:nvSpPr>
          <p:cNvPr id="8" name="Trapezoid 7"/>
          <p:cNvSpPr/>
          <p:nvPr/>
        </p:nvSpPr>
        <p:spPr>
          <a:xfrm>
            <a:off x="1645920" y="3017520"/>
            <a:ext cx="3840480" cy="1005840"/>
          </a:xfrm>
          <a:prstGeom prst="trapezoid">
            <a:avLst/>
          </a:prstGeom>
          <a:solidFill>
            <a:srgbClr val="36A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182112"/>
            <a:ext cx="3474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SAM</a:t>
            </a:r>
            <a:br/>
            <a:r>
              <a:t>Targetable 32M Schools</a:t>
            </a:r>
          </a:p>
        </p:txBody>
      </p:sp>
      <p:sp>
        <p:nvSpPr>
          <p:cNvPr id="10" name="Trapezoid 9"/>
          <p:cNvSpPr/>
          <p:nvPr/>
        </p:nvSpPr>
        <p:spPr>
          <a:xfrm>
            <a:off x="1920240" y="4069080"/>
            <a:ext cx="3291840" cy="914400"/>
          </a:xfrm>
          <a:prstGeom prst="trapezoid">
            <a:avLst/>
          </a:prstGeom>
          <a:solidFill>
            <a:srgbClr val="DD9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4233672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SOM</a:t>
            </a:r>
            <a:br/>
            <a:r>
              <a:t>Pilot 5 Schools</a:t>
            </a:r>
            <a:br/>
            <a:r>
              <a:t>$20M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08760"/>
            <a:ext cx="5120640" cy="4389120"/>
          </a:xfrm>
          <a:prstGeom prst="roundRect">
            <a:avLst/>
          </a:prstGeom>
          <a:solidFill>
            <a:srgbClr val="E6F2FC"/>
          </a:solidFill>
          <a:ln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5204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5C6A76"/>
                </a:solidFill>
                <a:latin typeface="Calibri"/>
              </a:defRPr>
            </a:pPr>
            <a:r>
              <a:t>Education market landscape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91695" cy="6016752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7772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029200" cy="2926080"/>
          </a:xfrm>
          <a:prstGeom prst="roundRect">
            <a:avLst/>
          </a:prstGeom>
          <a:solidFill>
            <a:srgbClr val="D985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206240"/>
            <a:ext cx="50292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6634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B2B (Schools)</a:t>
            </a:r>
            <a:br/>
            <a:r>
              <a:t>$6,000 per school/year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029200" cy="2926080"/>
          </a:xfrm>
          <a:prstGeom prst="roundRect">
            <a:avLst/>
          </a:prstGeom>
          <a:solidFill>
            <a:srgbClr val="279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4206240"/>
            <a:ext cx="5029200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57400"/>
            <a:ext cx="46634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B2G (Government)</a:t>
            </a:r>
            <a:br/>
            <a:r>
              <a:t>$600,000 per country/year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91695" cy="6016752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7772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Value Proposition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5669280" cy="4480560"/>
          </a:xfrm>
          <a:prstGeom prst="roundRect">
            <a:avLst/>
          </a:prstGeom>
          <a:solidFill>
            <a:srgbClr val="DB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2120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300">
                <a:solidFill>
                  <a:srgbClr val="1E1E1E"/>
                </a:solidFill>
                <a:latin typeface="Calibri"/>
              </a:defRPr>
            </a:pPr>
            <a:r>
              <a:t>For Teachers: Save time and gain actionable insights</a:t>
            </a:r>
          </a:p>
          <a:p>
            <a:pPr>
              <a:spcAft>
                <a:spcPts val="700"/>
              </a:spcAft>
              <a:defRPr sz="2300">
                <a:solidFill>
                  <a:srgbClr val="1E1E1E"/>
                </a:solidFill>
                <a:latin typeface="Calibri"/>
              </a:defRPr>
            </a:pPr>
            <a:r>
              <a:t>For Students: Personalized learning paths</a:t>
            </a:r>
          </a:p>
          <a:p>
            <a:pPr>
              <a:spcAft>
                <a:spcPts val="700"/>
              </a:spcAft>
              <a:defRPr sz="2300">
                <a:solidFill>
                  <a:srgbClr val="1E1E1E"/>
                </a:solidFill>
                <a:latin typeface="Calibri"/>
              </a:defRPr>
            </a:pPr>
            <a:r>
              <a:t>For Schools &amp; Governments: Scalable, cost-effective 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645920"/>
            <a:ext cx="4937760" cy="4389120"/>
          </a:xfrm>
          <a:prstGeom prst="roundRect">
            <a:avLst/>
          </a:prstGeom>
          <a:solidFill>
            <a:srgbClr val="E6F2FC"/>
          </a:solidFill>
          <a:ln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36576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5C6A76"/>
                </a:solidFill>
                <a:latin typeface="Calibri"/>
              </a:defRPr>
            </a:pPr>
            <a:r>
              <a:t>Teacher + dashboard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91695" cy="6016752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7772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Our 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300">
                <a:solidFill>
                  <a:srgbClr val="1E1E1E"/>
                </a:solidFill>
                <a:latin typeface="Calibri"/>
              </a:defRPr>
            </a:pPr>
            <a:r>
              <a:t>5 schools launched in Rwanda &amp; Ghana</a:t>
            </a:r>
          </a:p>
          <a:p>
            <a:pPr>
              <a:spcAft>
                <a:spcPts val="700"/>
              </a:spcAft>
              <a:defRPr sz="2300">
                <a:solidFill>
                  <a:srgbClr val="1E1E1E"/>
                </a:solidFill>
                <a:latin typeface="Calibri"/>
              </a:defRPr>
            </a:pPr>
            <a:r>
              <a:t>Pipeline: 10 schools in Senegal &amp; Kenya</a:t>
            </a:r>
          </a:p>
          <a:p>
            <a:pPr>
              <a:spcAft>
                <a:spcPts val="700"/>
              </a:spcAft>
              <a:defRPr sz="2300">
                <a:solidFill>
                  <a:srgbClr val="1E1E1E"/>
                </a:solidFill>
                <a:latin typeface="Calibri"/>
              </a:defRPr>
            </a:pPr>
            <a:r>
              <a:t>Positive pilot results and teacher retention gains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303520" cy="4480560"/>
          </a:xfrm>
          <a:prstGeom prst="roundRect">
            <a:avLst/>
          </a:prstGeom>
          <a:solidFill>
            <a:srgbClr val="E6F2FC"/>
          </a:solidFill>
          <a:ln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3611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5C6A76"/>
                </a:solidFill>
                <a:latin typeface="Calibri"/>
              </a:defRPr>
            </a:pPr>
            <a:r>
              <a:t>Students collaborating with laptops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91695" cy="6016752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7772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Revenue Projections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5669280" cy="1051560"/>
          </a:xfrm>
          <a:prstGeom prst="rect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92024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$5.4M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5669280" cy="1051560"/>
          </a:xfrm>
          <a:prstGeom prst="rect">
            <a:avLst/>
          </a:prstGeom>
          <a:solidFill>
            <a:srgbClr val="08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3580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0175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$14.4M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5669280" cy="1051560"/>
          </a:xfrm>
          <a:prstGeom prst="rect">
            <a:avLst/>
          </a:prstGeom>
          <a:solidFill>
            <a:srgbClr val="E98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3308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1148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$248M+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4389120"/>
            <a:ext cx="502920" cy="1097280"/>
          </a:xfrm>
          <a:prstGeom prst="rect">
            <a:avLst/>
          </a:prstGeom>
          <a:solidFill>
            <a:srgbClr val="DD9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3749039"/>
            <a:ext cx="502920" cy="1737360"/>
          </a:xfrm>
          <a:prstGeom prst="rect">
            <a:avLst/>
          </a:prstGeom>
          <a:solidFill>
            <a:srgbClr val="279E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0" y="3017520"/>
            <a:ext cx="502920" cy="2468880"/>
          </a:xfrm>
          <a:prstGeom prst="rect">
            <a:avLst/>
          </a:prstGeom>
          <a:solidFill>
            <a:srgbClr val="86C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Up Arrow 17"/>
          <p:cNvSpPr/>
          <p:nvPr/>
        </p:nvSpPr>
        <p:spPr>
          <a:xfrm>
            <a:off x="6492240" y="3017520"/>
            <a:ext cx="4389120" cy="2560320"/>
          </a:xfrm>
          <a:prstGeom prst="upArrow">
            <a:avLst/>
          </a:prstGeom>
          <a:solidFill>
            <a:srgbClr val="279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91695" cy="6016752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7772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Go-To-Market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834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0">
                <a:solidFill>
                  <a:srgbClr val="1E1E1E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 i="0">
                <a:solidFill>
                  <a:srgbClr val="1E1E1E"/>
                </a:solidFill>
                <a:latin typeface="Calibri"/>
              </a:defRPr>
            </a:pPr>
            <a:r>
              <a:t>$5.4M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49834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0">
                <a:solidFill>
                  <a:srgbClr val="1E1E1E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9718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 i="0">
                <a:solidFill>
                  <a:srgbClr val="1E1E1E"/>
                </a:solidFill>
                <a:latin typeface="Calibri"/>
              </a:defRPr>
            </a:pPr>
            <a:r>
              <a:t>$14.4M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9834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 i="0">
                <a:solidFill>
                  <a:srgbClr val="1E1E1E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9718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 i="0">
                <a:solidFill>
                  <a:srgbClr val="1E1E1E"/>
                </a:solidFill>
                <a:latin typeface="Calibri"/>
              </a:defRPr>
            </a:pPr>
            <a:r>
              <a:t>$248M+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206240"/>
            <a:ext cx="502920" cy="640080"/>
          </a:xfrm>
          <a:prstGeom prst="rect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28800" y="4023359"/>
            <a:ext cx="502920" cy="822960"/>
          </a:xfrm>
          <a:prstGeom prst="rect">
            <a:avLst/>
          </a:prstGeom>
          <a:solidFill>
            <a:srgbClr val="08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3383279"/>
            <a:ext cx="502920" cy="1463040"/>
          </a:xfrm>
          <a:prstGeom prst="rect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3383279"/>
            <a:ext cx="502920" cy="1463040"/>
          </a:xfrm>
          <a:prstGeom prst="rect">
            <a:avLst/>
          </a:prstGeom>
          <a:solidFill>
            <a:srgbClr val="08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2926079"/>
            <a:ext cx="502920" cy="1920240"/>
          </a:xfrm>
          <a:prstGeom prst="rect">
            <a:avLst/>
          </a:prstGeom>
          <a:solidFill>
            <a:srgbClr val="E98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377439"/>
            <a:ext cx="502920" cy="2468880"/>
          </a:xfrm>
          <a:prstGeom prst="rect">
            <a:avLst/>
          </a:prstGeom>
          <a:solidFill>
            <a:srgbClr val="C84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920239"/>
            <a:ext cx="502920" cy="2926080"/>
          </a:xfrm>
          <a:prstGeom prst="rect">
            <a:avLst/>
          </a:prstGeom>
          <a:solidFill>
            <a:srgbClr val="B84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Up Arrow 18"/>
          <p:cNvSpPr/>
          <p:nvPr/>
        </p:nvSpPr>
        <p:spPr>
          <a:xfrm>
            <a:off x="731520" y="1828800"/>
            <a:ext cx="10424160" cy="2926080"/>
          </a:xfrm>
          <a:prstGeom prst="upArrow">
            <a:avLst/>
          </a:prstGeom>
          <a:solidFill>
            <a:srgbClr val="238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91695" cy="6016752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7772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Technology Overview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645920"/>
            <a:ext cx="320040" cy="320040"/>
          </a:xfrm>
          <a:prstGeom prst="ellipse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18488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 i="0">
                <a:solidFill>
                  <a:srgbClr val="08385F"/>
                </a:solidFill>
                <a:latin typeface="Calibri"/>
              </a:defRPr>
            </a:pPr>
            <a:r>
              <a:t>AI Grading Engine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51760"/>
            <a:ext cx="320040" cy="320040"/>
          </a:xfrm>
          <a:prstGeom prst="ellipse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24328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 i="0">
                <a:solidFill>
                  <a:srgbClr val="08385F"/>
                </a:solidFill>
                <a:latin typeface="Calibri"/>
              </a:defRPr>
            </a:pPr>
            <a:r>
              <a:t>Analytics Dashboard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657600"/>
            <a:ext cx="320040" cy="320040"/>
          </a:xfrm>
          <a:prstGeom prst="ellipse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630168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 i="0">
                <a:solidFill>
                  <a:srgbClr val="08385F"/>
                </a:solidFill>
                <a:latin typeface="Calibri"/>
              </a:defRPr>
            </a:pPr>
            <a:r>
              <a:t>Cloud-Based Platform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663440"/>
            <a:ext cx="320040" cy="320040"/>
          </a:xfrm>
          <a:prstGeom prst="ellipse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636007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 i="0">
                <a:solidFill>
                  <a:srgbClr val="08385F"/>
                </a:solidFill>
                <a:latin typeface="Calibri"/>
              </a:defRPr>
            </a:pPr>
            <a:r>
              <a:t>LMS Integrations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645920"/>
            <a:ext cx="5120640" cy="4389120"/>
          </a:xfrm>
          <a:prstGeom prst="roundRect">
            <a:avLst/>
          </a:prstGeom>
          <a:solidFill>
            <a:srgbClr val="E6F2FC"/>
          </a:solidFill>
          <a:ln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657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5C6A76"/>
                </a:solidFill>
                <a:latin typeface="Calibri"/>
              </a:defRPr>
            </a:pPr>
            <a:r>
              <a:t>Students using cloud-based learning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91695" cy="6016752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7772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Impact &amp;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300">
                <a:solidFill>
                  <a:srgbClr val="1E1E1E"/>
                </a:solidFill>
                <a:latin typeface="Calibri"/>
              </a:defRPr>
            </a:pPr>
            <a:r>
              <a:t>Teacher hours saved</a:t>
            </a:r>
          </a:p>
          <a:p>
            <a:pPr>
              <a:spcAft>
                <a:spcPts val="700"/>
              </a:spcAft>
              <a:defRPr sz="2300">
                <a:solidFill>
                  <a:srgbClr val="1E1E1E"/>
                </a:solidFill>
                <a:latin typeface="Calibri"/>
              </a:defRPr>
            </a:pPr>
            <a:r>
              <a:t>Student engagement +40%</a:t>
            </a:r>
          </a:p>
          <a:p>
            <a:pPr>
              <a:spcAft>
                <a:spcPts val="700"/>
              </a:spcAft>
              <a:defRPr sz="2300">
                <a:solidFill>
                  <a:srgbClr val="1E1E1E"/>
                </a:solidFill>
                <a:latin typeface="Calibri"/>
              </a:defRPr>
            </a:pPr>
            <a:r>
              <a:t>Faster feedback: 75% reduction</a:t>
            </a:r>
          </a:p>
          <a:p>
            <a:pPr>
              <a:spcAft>
                <a:spcPts val="700"/>
              </a:spcAft>
              <a:defRPr sz="2300">
                <a:solidFill>
                  <a:srgbClr val="1E1E1E"/>
                </a:solidFill>
                <a:latin typeface="Calibri"/>
              </a:defRPr>
            </a:pPr>
            <a:r>
              <a:t>Improved outcomes across pilot schools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766560" y="1554480"/>
          <a:ext cx="45720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91695" cy="6016752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7772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Funding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8463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2300">
                <a:solidFill>
                  <a:srgbClr val="1E1E1E"/>
                </a:solidFill>
                <a:latin typeface="Calibri"/>
              </a:defRPr>
            </a:pPr>
            <a:r>
              <a:t>Raising $3M</a:t>
            </a:r>
          </a:p>
          <a:p>
            <a:pPr>
              <a:spcAft>
                <a:spcPts val="700"/>
              </a:spcAft>
              <a:defRPr sz="2300">
                <a:solidFill>
                  <a:srgbClr val="1E1E1E"/>
                </a:solidFill>
                <a:latin typeface="Calibri"/>
              </a:defRPr>
            </a:pPr>
            <a:r>
              <a:t>Product development</a:t>
            </a:r>
          </a:p>
          <a:p>
            <a:pPr>
              <a:spcAft>
                <a:spcPts val="700"/>
              </a:spcAft>
              <a:defRPr sz="2300">
                <a:solidFill>
                  <a:srgbClr val="1E1E1E"/>
                </a:solidFill>
                <a:latin typeface="Calibri"/>
              </a:defRPr>
            </a:pPr>
            <a:r>
              <a:t>Sales &amp; marketing</a:t>
            </a:r>
          </a:p>
          <a:p>
            <a:pPr>
              <a:spcAft>
                <a:spcPts val="700"/>
              </a:spcAft>
              <a:defRPr sz="2300">
                <a:solidFill>
                  <a:srgbClr val="1E1E1E"/>
                </a:solidFill>
                <a:latin typeface="Calibri"/>
              </a:defRPr>
            </a:pPr>
            <a:r>
              <a:t>School onboarding</a:t>
            </a:r>
          </a:p>
          <a:p>
            <a:pPr>
              <a:spcAft>
                <a:spcPts val="700"/>
              </a:spcAft>
              <a:defRPr sz="2300">
                <a:solidFill>
                  <a:srgbClr val="1E1E1E"/>
                </a:solidFill>
                <a:latin typeface="Calibri"/>
              </a:defRPr>
            </a:pPr>
            <a:r>
              <a:t>Operations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120640" y="1828800"/>
          <a:ext cx="3657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869680" y="1554480"/>
            <a:ext cx="2560320" cy="4389120"/>
          </a:xfrm>
          <a:prstGeom prst="roundRect">
            <a:avLst/>
          </a:prstGeom>
          <a:solidFill>
            <a:srgbClr val="E6F2FC"/>
          </a:solidFill>
          <a:ln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35661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5C6A76"/>
                </a:solidFill>
                <a:latin typeface="Calibri"/>
              </a:defRPr>
            </a:pPr>
            <a:r>
              <a:t>Africa focus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91695" cy="6016752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7772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Our Team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4389120"/>
          </a:xfrm>
          <a:prstGeom prst="rect">
            <a:avLst/>
          </a:prstGeom>
          <a:solidFill>
            <a:srgbClr val="F4F4F4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920240"/>
            <a:ext cx="2103120" cy="2560320"/>
          </a:xfrm>
          <a:prstGeom prst="roundRect">
            <a:avLst/>
          </a:prstGeom>
          <a:solidFill>
            <a:srgbClr val="DFC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8006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E1E1E"/>
                </a:solidFill>
                <a:latin typeface="Calibri"/>
              </a:defRPr>
            </a:pPr>
            <a:r>
              <a:t>Founder &amp; CEO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645920"/>
            <a:ext cx="2560320" cy="4389120"/>
          </a:xfrm>
          <a:prstGeom prst="rect">
            <a:avLst/>
          </a:prstGeom>
          <a:solidFill>
            <a:srgbClr val="F4F4F4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94760" y="1920240"/>
            <a:ext cx="2103120" cy="2560320"/>
          </a:xfrm>
          <a:prstGeom prst="roundRect">
            <a:avLst/>
          </a:prstGeom>
          <a:solidFill>
            <a:srgbClr val="C6B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48006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E1E1E"/>
                </a:solidFill>
                <a:latin typeface="Calibri"/>
              </a:defRPr>
            </a:pPr>
            <a:r>
              <a:t>CTO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2560320" cy="4389120"/>
          </a:xfrm>
          <a:prstGeom prst="rect">
            <a:avLst/>
          </a:prstGeom>
          <a:solidFill>
            <a:srgbClr val="F4F4F4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29400" y="1920240"/>
            <a:ext cx="2103120" cy="2560320"/>
          </a:xfrm>
          <a:prstGeom prst="roundRect">
            <a:avLst/>
          </a:prstGeom>
          <a:solidFill>
            <a:srgbClr val="B9A9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8006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E1E1E"/>
                </a:solidFill>
                <a:latin typeface="Calibri"/>
              </a:defRPr>
            </a:pPr>
            <a:r>
              <a:t>Head of Partnerships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645920"/>
            <a:ext cx="2560320" cy="4389120"/>
          </a:xfrm>
          <a:prstGeom prst="rect">
            <a:avLst/>
          </a:prstGeom>
          <a:solidFill>
            <a:srgbClr val="F4F4F4"/>
          </a:solidFill>
          <a:ln>
            <a:solidFill>
              <a:srgbClr val="DEDE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64040" y="1920240"/>
            <a:ext cx="2103120" cy="2560320"/>
          </a:xfrm>
          <a:prstGeom prst="roundRect">
            <a:avLst/>
          </a:prstGeom>
          <a:solidFill>
            <a:srgbClr val="DEC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4800600"/>
            <a:ext cx="2377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1E1E1E"/>
                </a:solidFill>
                <a:latin typeface="Calibri"/>
              </a:defRPr>
            </a:pPr>
            <a:r>
              <a:t>Education Advisors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41248"/>
            <a:ext cx="12191695" cy="6016752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F0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46304"/>
            <a:ext cx="7772400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Join Us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1828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 i="1">
                <a:solidFill>
                  <a:srgbClr val="FFFFFF"/>
                </a:solidFill>
                <a:latin typeface="Calibri"/>
              </a:defRPr>
            </a:pPr>
            <a:r>
              <a:t>Transform African Education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 i="1">
                <a:solidFill>
                  <a:srgbClr val="08385F"/>
                </a:solidFill>
                <a:latin typeface="Calibri"/>
              </a:defRPr>
            </a:pPr>
            <a:r>
              <a:t>Partner with us</a:t>
            </a:r>
            <a:br/>
            <a:r>
              <a:t>To empower teachers &amp;</a:t>
            </a:r>
            <a:br/>
            <a:r>
              <a:t>students across Africa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303520" cy="3474720"/>
          </a:xfrm>
          <a:prstGeom prst="roundRect">
            <a:avLst/>
          </a:prstGeom>
          <a:solidFill>
            <a:srgbClr val="E6F2FC"/>
          </a:solidFill>
          <a:ln>
            <a:solidFill>
              <a:srgbClr val="B4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32004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 i="0">
                <a:solidFill>
                  <a:srgbClr val="5C6A76"/>
                </a:solidFill>
                <a:latin typeface="Calibri"/>
              </a:defRPr>
            </a:pPr>
            <a:r>
              <a:t>Regional expansion 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897880"/>
            <a:ext cx="12191695" cy="960120"/>
          </a:xfrm>
          <a:prstGeom prst="rect">
            <a:avLst/>
          </a:prstGeom>
          <a:solidFill>
            <a:srgbClr val="0C54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 i="0">
                <a:solidFill>
                  <a:srgbClr val="FFFFFF"/>
                </a:solidFill>
                <a:latin typeface="Calibri"/>
              </a:defRPr>
            </a:pPr>
            <a:r>
              <a:t>Contact Us: email@example.com    |    www.teachercopilot.com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