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60A5FA"/>
              </a:solidFill>
            </c:spPr>
          </c:dPt>
          <c:dPt>
            <c:idx val="2"/>
            <c:spPr>
              <a:solidFill>
                <a:srgbClr val="BFDBFE"/>
              </a:solidFill>
            </c:spPr>
          </c:dPt>
          <c:cat>
            <c:strRef>
              <c:f>Sheet1!$A$2:$A$4</c:f>
              <c:strCache>
                <c:ptCount val="3"/>
                <c:pt idx="0">
                  <c:v>Teacher Time</c:v>
                </c:pt>
                <c:pt idx="1">
                  <c:v>Engagement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10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spPr>
              <a:solidFill>
                <a:srgbClr val="18181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60A5FA"/>
              </a:solidFill>
            </c:spPr>
          </c:dPt>
          <c:dPt>
            <c:idx val="3"/>
            <c:spPr>
              <a:solidFill>
                <a:srgbClr val="BFDBFE"/>
              </a:solidFill>
            </c:spPr>
          </c:dPt>
          <c:cat>
            <c:strRef>
              <c:f>Sheet1!$A$2:$A$5</c:f>
              <c:strCache>
                <c:ptCount val="4"/>
                <c:pt idx="0">
                  <c:v>Product</c:v>
                </c:pt>
                <c:pt idx="1">
                  <c:v>Sales</c:v>
                </c:pt>
                <c:pt idx="2">
                  <c:v>Onboarding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133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896112"/>
            <a:ext cx="9966960" cy="452628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868680"/>
            <a:ext cx="9966960" cy="4526280"/>
          </a:xfrm>
          <a:prstGeom prst="roundRect">
            <a:avLst/>
          </a:prstGeom>
          <a:solidFill>
            <a:srgbClr val="27272A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Inter SemiBold"/>
              </a:defRPr>
            </a:pPr>
            <a:r>
              <a:t>Teacher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23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FAFAFA"/>
                </a:solidFill>
                <a:latin typeface="Inter"/>
              </a:defRPr>
            </a:pPr>
            <a:r>
              <a:t>AI-Powered Teacher Productivity &amp; Student Learning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182112"/>
            <a:ext cx="4892040" cy="18288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3154680"/>
            <a:ext cx="4892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858768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 i="1">
                <a:solidFill>
                  <a:srgbClr val="18181B"/>
                </a:solidFill>
                <a:latin typeface="Inter SemiBold"/>
              </a:defRPr>
            </a:pPr>
            <a:r>
              <a:t>Pan-African rollout</a:t>
            </a:r>
          </a:p>
        </p:txBody>
      </p:sp>
      <p:sp>
        <p:nvSpPr>
          <p:cNvPr id="11" name="Oval 10"/>
          <p:cNvSpPr/>
          <p:nvPr/>
        </p:nvSpPr>
        <p:spPr>
          <a:xfrm>
            <a:off x="4069080" y="352044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37760" y="379476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342900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402336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361188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55279" y="420624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Inter SemiBold"/>
              </a:defRPr>
            </a:pPr>
            <a:r>
              <a:t>Empowering teachers and transforming learning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97864"/>
            <a:ext cx="5715000" cy="493776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57150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8181B"/>
                </a:solidFill>
                <a:latin typeface="Inter"/>
              </a:defRPr>
            </a:pPr>
            <a:r>
              <a:t>Teachers overloaded with manual grading</a:t>
            </a:r>
          </a:p>
          <a:p>
            <a:pPr>
              <a:spcAft>
                <a:spcPts val="1400"/>
              </a:spcAft>
              <a:defRPr sz="2400">
                <a:solidFill>
                  <a:srgbClr val="18181B"/>
                </a:solidFill>
                <a:latin typeface="Inter"/>
              </a:defRPr>
            </a:pPr>
            <a:r>
              <a:t>Delayed feedback and generic responses</a:t>
            </a:r>
          </a:p>
          <a:p>
            <a:pPr>
              <a:spcAft>
                <a:spcPts val="1400"/>
              </a:spcAft>
              <a:defRPr sz="2400">
                <a:solidFill>
                  <a:srgbClr val="18181B"/>
                </a:solidFill>
                <a:latin typeface="Inter"/>
              </a:defRPr>
            </a:pPr>
            <a:r>
              <a:t>Limited insights for personalized learning</a:t>
            </a:r>
          </a:p>
          <a:p>
            <a:pPr>
              <a:spcAft>
                <a:spcPts val="1400"/>
              </a:spcAft>
              <a:defRPr sz="2400">
                <a:solidFill>
                  <a:srgbClr val="18181B"/>
                </a:solidFill>
                <a:latin typeface="Inter"/>
              </a:defRPr>
            </a:pPr>
            <a:r>
              <a:t>Students unaware of learning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257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blem_563x5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243584"/>
            <a:ext cx="5148072" cy="478231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37376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FFFFFF"/>
                </a:solidFill>
                <a:latin typeface="Inter SemiBold"/>
              </a:defRPr>
            </a:pPr>
            <a:r>
              <a:t>Empowering Teachers, Transforming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Our Mission &amp;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61872"/>
            <a:ext cx="5715000" cy="48006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7150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Inter SemiBold"/>
              </a:defRPr>
            </a:pPr>
            <a:r>
              <a:t>Mission: Empower teachers to transform learning with AI</a:t>
            </a:r>
          </a:p>
          <a:p>
            <a:pPr>
              <a:spcBef>
                <a:spcPts val="3000"/>
              </a:spcBef>
              <a:defRPr sz="2500" b="1">
                <a:solidFill>
                  <a:srgbClr val="18181B"/>
                </a:solidFill>
                <a:latin typeface="Inter SemiBold"/>
              </a:defRPr>
            </a:pPr>
            <a:r>
              <a:t>Vision: A future where every student receives personalized education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53312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ission_563x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408176"/>
            <a:ext cx="5148072" cy="441655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37376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FFFFFF"/>
                </a:solidFill>
                <a:latin typeface="Inter SemiBold"/>
              </a:defRPr>
            </a:pPr>
            <a:r>
              <a:t>Empowering Teachers, Transforming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Our 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 i="1">
                <a:solidFill>
                  <a:srgbClr val="FAFAFA"/>
                </a:solidFill>
                <a:latin typeface="Inter SemiBold"/>
              </a:defRPr>
            </a:pPr>
            <a:r>
              <a:t>Teacher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71717A"/>
                </a:solidFill>
                <a:latin typeface="Inter SemiBold"/>
              </a:defRPr>
            </a:pPr>
            <a:r>
              <a:t>Current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1887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2563EB"/>
                </a:solidFill>
                <a:latin typeface="Inter SemiBold"/>
              </a:defRPr>
            </a:pPr>
            <a:r>
              <a:t>Optimized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19072"/>
            <a:ext cx="448056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91640"/>
            <a:ext cx="4480560" cy="91440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8181B"/>
                </a:solidFill>
                <a:latin typeface="Inter SemiBold"/>
              </a:defRPr>
            </a:pPr>
            <a:r>
              <a:t>Manual Grading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19072"/>
            <a:ext cx="484632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691640"/>
            <a:ext cx="4846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975104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E40AF"/>
                </a:solidFill>
                <a:latin typeface="Inter SemiBold"/>
              </a:defRPr>
            </a:pPr>
            <a:r>
              <a:t>AI Grading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21808" y="1911095"/>
            <a:ext cx="914400" cy="475488"/>
          </a:xfrm>
          <a:prstGeom prst="rightArrow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026664"/>
            <a:ext cx="448056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999232"/>
            <a:ext cx="4480560" cy="91440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82696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8181B"/>
                </a:solidFill>
                <a:latin typeface="Inter SemiBold"/>
              </a:defRPr>
            </a:pPr>
            <a:r>
              <a:t>Basic Feedback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026664"/>
            <a:ext cx="484632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999232"/>
            <a:ext cx="4846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282696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E40AF"/>
                </a:solidFill>
                <a:latin typeface="Inter SemiBold"/>
              </a:defRPr>
            </a:pPr>
            <a:r>
              <a:t>Instant Feedback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321808" y="3218688"/>
            <a:ext cx="914400" cy="475488"/>
          </a:xfrm>
          <a:prstGeom prst="rightArrow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334256"/>
            <a:ext cx="448056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306824"/>
            <a:ext cx="4480560" cy="91440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59028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8181B"/>
                </a:solidFill>
                <a:latin typeface="Inter SemiBold"/>
              </a:defRPr>
            </a:pPr>
            <a:r>
              <a:t>Slow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34256"/>
            <a:ext cx="484632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4306824"/>
            <a:ext cx="4846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59028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E40AF"/>
                </a:solidFill>
                <a:latin typeface="Inter SemiBold"/>
              </a:defRPr>
            </a:pPr>
            <a:r>
              <a:t>Analytics &amp; Alerts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321808" y="4526280"/>
            <a:ext cx="914400" cy="475488"/>
          </a:xfrm>
          <a:prstGeom prst="rightArrow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Market Opportunity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53312"/>
            <a:ext cx="557784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5577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pezoid 9"/>
          <p:cNvSpPr/>
          <p:nvPr/>
        </p:nvSpPr>
        <p:spPr>
          <a:xfrm>
            <a:off x="1188720" y="1828800"/>
            <a:ext cx="4297680" cy="1097280"/>
          </a:xfrm>
          <a:prstGeom prst="trapezoid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984248"/>
            <a:ext cx="3931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 SemiBold"/>
              </a:defRPr>
            </a:pPr>
            <a:r>
              <a:t>TAM</a:t>
            </a:r>
            <a:br/>
            <a:r>
              <a:t>2.5M Schools</a:t>
            </a:r>
            <a:br/>
            <a:r>
              <a:t>$600M+</a:t>
            </a:r>
          </a:p>
        </p:txBody>
      </p:sp>
      <p:sp>
        <p:nvSpPr>
          <p:cNvPr id="12" name="Trapezoid 11"/>
          <p:cNvSpPr/>
          <p:nvPr/>
        </p:nvSpPr>
        <p:spPr>
          <a:xfrm>
            <a:off x="1463040" y="2999232"/>
            <a:ext cx="3749039" cy="1005840"/>
          </a:xfrm>
          <a:prstGeom prst="trapezoid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154679"/>
            <a:ext cx="33832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 SemiBold"/>
              </a:defRPr>
            </a:pPr>
            <a:r>
              <a:t>SAM</a:t>
            </a:r>
            <a:br/>
            <a:r>
              <a:t>Targetable 32M Schools</a:t>
            </a:r>
          </a:p>
        </p:txBody>
      </p:sp>
      <p:sp>
        <p:nvSpPr>
          <p:cNvPr id="14" name="Trapezoid 13"/>
          <p:cNvSpPr/>
          <p:nvPr/>
        </p:nvSpPr>
        <p:spPr>
          <a:xfrm>
            <a:off x="1737360" y="4050791"/>
            <a:ext cx="3200400" cy="914400"/>
          </a:xfrm>
          <a:prstGeom prst="trapezoid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20624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 SemiBold"/>
              </a:defRPr>
            </a:pPr>
            <a:r>
              <a:t>SOM</a:t>
            </a:r>
            <a:br/>
            <a:r>
              <a:t>Pilot 5 Schools</a:t>
            </a:r>
            <a:br/>
            <a:r>
              <a:t>$20M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399032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rket_553x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3" y="1453896"/>
            <a:ext cx="5056632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Business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73352"/>
            <a:ext cx="5029200" cy="30632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50292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4572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 i="0">
                <a:solidFill>
                  <a:srgbClr val="18181B"/>
                </a:solidFill>
                <a:latin typeface="Inter SemiBold"/>
              </a:defRPr>
            </a:pPr>
            <a:r>
              <a:t>B2B (Schools)</a:t>
            </a:r>
            <a:br/>
            <a:r>
              <a:t>$6,000 per school/year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15968"/>
            <a:ext cx="5029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673352"/>
            <a:ext cx="5029200" cy="30632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50292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39112"/>
            <a:ext cx="4572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 i="0">
                <a:solidFill>
                  <a:srgbClr val="18181B"/>
                </a:solidFill>
                <a:latin typeface="Inter SemiBold"/>
              </a:defRPr>
            </a:pPr>
            <a:r>
              <a:t>B2G (Government)</a:t>
            </a:r>
            <a:br/>
            <a:r>
              <a:t>$600,000 per country/year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315968"/>
            <a:ext cx="502920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Value Proposition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576072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760720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For Teachers: Save time and actionable insights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For Students: Personalized learning support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For Schools &amp; Governments: Scalable cost efficiency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08760"/>
            <a:ext cx="4937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alue_528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563624"/>
            <a:ext cx="482803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Our 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566928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52120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5 schools launched in Rwanda &amp; Ghana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Pipeline: 10 schools in Senegal &amp; Kenya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Positive pilot results with high teacher satisfaction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action_558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563624"/>
            <a:ext cx="510235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Revenue Projections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669280" cy="1005840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 SemiBold"/>
              </a:defRPr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11095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Inter SemiBold"/>
              </a:defRPr>
            </a:pPr>
            <a:r>
              <a:t>$5.4M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34056"/>
            <a:ext cx="5669280" cy="100584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0837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 SemiBold"/>
              </a:defRPr>
            </a:pPr>
            <a:r>
              <a:t>Year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99232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Inter SemiBold"/>
              </a:defRPr>
            </a:pPr>
            <a:r>
              <a:t>$14.4M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22191"/>
            <a:ext cx="566928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96511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 SemiBold"/>
              </a:defRPr>
            </a:pPr>
            <a:r>
              <a:t>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08736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Inter SemiBold"/>
              </a:defRPr>
            </a:pPr>
            <a:r>
              <a:t>$248M+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4389120"/>
            <a:ext cx="512064" cy="10972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3703320"/>
            <a:ext cx="512064" cy="1783080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33104" y="2926080"/>
            <a:ext cx="512064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6537960" y="2926080"/>
            <a:ext cx="4480560" cy="2697480"/>
          </a:xfrm>
          <a:prstGeom prst="up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Go-To-Market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8181B"/>
                </a:solidFill>
                <a:latin typeface="Inter SemiBold"/>
              </a:defRPr>
            </a:pPr>
            <a:r>
              <a:t>Year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18181B"/>
                </a:solidFill>
                <a:latin typeface="Inter SemiBold"/>
              </a:defRPr>
            </a:pPr>
            <a:r>
              <a:t>$5.4M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8181B"/>
                </a:solidFill>
                <a:latin typeface="Inter SemiBold"/>
              </a:defRPr>
            </a:pPr>
            <a:r>
              <a:t>Year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18181B"/>
                </a:solidFill>
                <a:latin typeface="Inter SemiBold"/>
              </a:defRPr>
            </a:pPr>
            <a:r>
              <a:t>$14.4M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8181B"/>
                </a:solidFill>
                <a:latin typeface="Inter SemiBold"/>
              </a:defRPr>
            </a:pPr>
            <a:r>
              <a:t>Year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18181B"/>
                </a:solidFill>
                <a:latin typeface="Inter SemiBold"/>
              </a:defRPr>
            </a:pPr>
            <a:r>
              <a:t>$248M+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206240"/>
            <a:ext cx="493776" cy="640080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4023359"/>
            <a:ext cx="493776" cy="822960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383279"/>
            <a:ext cx="493776" cy="1463040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3383279"/>
            <a:ext cx="493776" cy="14630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2880360"/>
            <a:ext cx="493776" cy="1965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331720"/>
            <a:ext cx="493776" cy="2514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2832" y="1920239"/>
            <a:ext cx="493776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731520" y="1828800"/>
            <a:ext cx="10469880" cy="2926080"/>
          </a:xfrm>
          <a:prstGeom prst="up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Technology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566928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700784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682496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18181B"/>
                </a:solidFill>
                <a:latin typeface="Inter SemiBold"/>
              </a:defRPr>
            </a:pPr>
            <a:r>
              <a:t>AI Grading Engine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68833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670048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18181B"/>
                </a:solidFill>
                <a:latin typeface="Inter SemiBold"/>
              </a:defRPr>
            </a:pPr>
            <a:r>
              <a:t>Analytics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75888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65760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18181B"/>
                </a:solidFill>
                <a:latin typeface="Inter SemiBold"/>
              </a:defRPr>
            </a:pPr>
            <a:r>
              <a:t>Cloud-Based Platform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663440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64515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18181B"/>
                </a:solidFill>
                <a:latin typeface="Inter SemiBold"/>
              </a:defRPr>
            </a:pPr>
            <a:r>
              <a:t>LMS Integrations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echnology_553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563624"/>
            <a:ext cx="505663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Impact &amp;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566928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52120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Teacher hours saved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Student engagement +40%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Faster feedback: 75% reduction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Improved outcomes across pilot schools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720840" y="1554480"/>
          <a:ext cx="4663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Funding 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466344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46634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4206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Raising $3M</a:t>
            </a:r>
          </a:p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Product development</a:t>
            </a:r>
          </a:p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Sales &amp; marketing</a:t>
            </a:r>
          </a:p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School onboarding</a:t>
            </a:r>
          </a:p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Operations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66360" y="1828800"/>
          <a:ext cx="35661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823960" y="1554480"/>
            <a:ext cx="2697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rket_283x4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1609344"/>
            <a:ext cx="258775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Our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90472"/>
            <a:ext cx="2697480" cy="46634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m_1_248x3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755648"/>
            <a:ext cx="2267712" cy="2999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8181B"/>
                </a:solidFill>
                <a:latin typeface="Inter SemiBold"/>
              </a:defRPr>
            </a:pPr>
            <a:r>
              <a:t>Founder &amp; CEO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1490472"/>
            <a:ext cx="2697480" cy="46634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4448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eam_2_248x3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3" y="1755648"/>
            <a:ext cx="2267712" cy="2999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75887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8181B"/>
                </a:solidFill>
                <a:latin typeface="Inter SemiBold"/>
              </a:defRPr>
            </a:pPr>
            <a:r>
              <a:t>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1490472"/>
            <a:ext cx="2697480" cy="46634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1968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eam_3_248x3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1" y="1755648"/>
            <a:ext cx="2267712" cy="29992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28816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8181B"/>
                </a:solidFill>
                <a:latin typeface="Inter SemiBold"/>
              </a:defRPr>
            </a:pPr>
            <a:r>
              <a:t>Head of Partnerships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1490472"/>
            <a:ext cx="2697480" cy="46634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0304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54896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eam_4_248x3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755648"/>
            <a:ext cx="2267712" cy="29992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81744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8181B"/>
                </a:solidFill>
                <a:latin typeface="Inter SemiBold"/>
              </a:defRPr>
            </a:pPr>
            <a:r>
              <a:t>Education Advisors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Join Us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 i="1">
                <a:solidFill>
                  <a:srgbClr val="FAFAFA"/>
                </a:solidFill>
                <a:latin typeface="Inter SemiBold"/>
              </a:defRPr>
            </a:pPr>
            <a:r>
              <a:t>Transform African Education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5669280" cy="42062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5669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92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 i="1">
                <a:solidFill>
                  <a:srgbClr val="18181B"/>
                </a:solidFill>
                <a:latin typeface="Inter SemiBold"/>
              </a:defRPr>
            </a:pPr>
            <a:r>
              <a:t>Partner with us</a:t>
            </a:r>
            <a:br/>
            <a:r>
              <a:t>To empower teachers &amp;</a:t>
            </a:r>
            <a:br/>
            <a:r>
              <a:t>students across Africa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osing_558x3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700784"/>
            <a:ext cx="5102352" cy="350215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44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Inter SemiBold"/>
              </a:defRPr>
            </a:pPr>
            <a:r>
              <a:t>Contact Us: email@example.com  |  www.teachercopilot.com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