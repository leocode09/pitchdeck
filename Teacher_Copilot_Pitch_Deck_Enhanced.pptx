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Impact</c:v>
                </c:pt>
              </c:strCache>
            </c:strRef>
          </c:tx>
          <c:dPt>
            <c:idx val="0"/>
            <c:spPr>
              <a:solidFill>
                <a:srgbClr val="3B7EBF"/>
              </a:solidFill>
            </c:spPr>
          </c:dPt>
          <c:dPt>
            <c:idx val="1"/>
            <c:spPr>
              <a:solidFill>
                <a:srgbClr val="279F55"/>
              </a:solidFill>
            </c:spPr>
          </c:dPt>
          <c:dPt>
            <c:idx val="2"/>
            <c:spPr>
              <a:solidFill>
                <a:srgbClr val="AACDEB"/>
              </a:solidFill>
            </c:spPr>
          </c:dPt>
          <c:cat>
            <c:strRef>
              <c:f>Sheet1!$A$2:$A$4</c:f>
              <c:strCache>
                <c:ptCount val="3"/>
                <c:pt idx="0">
                  <c:v>Teacher Time</c:v>
                </c:pt>
                <c:pt idx="1">
                  <c:v>Engagement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40</c:v>
                </c:pt>
                <c:pt idx="2">
                  <c:v>10</c:v>
                </c:pt>
              </c:numCache>
            </c:numRef>
          </c:val>
        </c:ser>
        <c:dLbls>
          <c:numFmt formatCode="0%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dPt>
            <c:idx val="0"/>
            <c:spPr>
              <a:solidFill>
                <a:srgbClr val="DC911E"/>
              </a:solidFill>
            </c:spPr>
          </c:dPt>
          <c:dPt>
            <c:idx val="1"/>
            <c:spPr>
              <a:solidFill>
                <a:srgbClr val="3485C7"/>
              </a:solidFill>
            </c:spPr>
          </c:dPt>
          <c:dPt>
            <c:idx val="2"/>
            <c:spPr>
              <a:solidFill>
                <a:srgbClr val="279F55"/>
              </a:solidFill>
            </c:spPr>
          </c:dPt>
          <c:dPt>
            <c:idx val="3"/>
            <c:spPr>
              <a:solidFill>
                <a:srgbClr val="A6C4E7"/>
              </a:solidFill>
            </c:spPr>
          </c:dPt>
          <c:cat>
            <c:strRef>
              <c:f>Sheet1!$A$2:$A$5</c:f>
              <c:strCache>
                <c:ptCount val="4"/>
                <c:pt idx="0">
                  <c:v>Product</c:v>
                </c:pt>
                <c:pt idx="1">
                  <c:v>Sales</c:v>
                </c:pt>
                <c:pt idx="2">
                  <c:v>Onboarding</c:v>
                </c:pt>
                <c:pt idx="3">
                  <c:v>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numFmt formatCode="0%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1333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868680"/>
            <a:ext cx="9966960" cy="4526280"/>
          </a:xfrm>
          <a:prstGeom prst="roundRect">
            <a:avLst/>
          </a:prstGeom>
          <a:solidFill>
            <a:srgbClr val="106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325880"/>
            <a:ext cx="9144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Segoe UI Semibold"/>
              </a:defRPr>
            </a:pPr>
            <a:r>
              <a:t>Teacher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423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Segoe UI"/>
              </a:defRPr>
            </a:pPr>
            <a:r>
              <a:t>AI-Powered Teacher Productivity &amp; Student Learning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154680"/>
            <a:ext cx="4892040" cy="1828800"/>
          </a:xfrm>
          <a:prstGeom prst="roundRect">
            <a:avLst/>
          </a:prstGeom>
          <a:solidFill>
            <a:srgbClr val="B4E1AF"/>
          </a:solidFill>
          <a:ln>
            <a:solidFill>
              <a:srgbClr val="62A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3858768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 i="1">
                <a:solidFill>
                  <a:srgbClr val="346236"/>
                </a:solidFill>
                <a:latin typeface="Segoe UI Semibold"/>
              </a:defRPr>
            </a:pPr>
            <a:r>
              <a:t>Pan-African rollout</a:t>
            </a:r>
          </a:p>
        </p:txBody>
      </p:sp>
      <p:sp>
        <p:nvSpPr>
          <p:cNvPr id="9" name="Oval 8"/>
          <p:cNvSpPr/>
          <p:nvPr/>
        </p:nvSpPr>
        <p:spPr>
          <a:xfrm>
            <a:off x="4069080" y="3520440"/>
            <a:ext cx="210312" cy="210312"/>
          </a:xfrm>
          <a:prstGeom prst="ellipse">
            <a:avLst/>
          </a:prstGeom>
          <a:solidFill>
            <a:srgbClr val="E18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0" y="3794760"/>
            <a:ext cx="210312" cy="210312"/>
          </a:xfrm>
          <a:prstGeom prst="ellipse">
            <a:avLst/>
          </a:prstGeom>
          <a:solidFill>
            <a:srgbClr val="E18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3429000"/>
            <a:ext cx="210312" cy="210312"/>
          </a:xfrm>
          <a:prstGeom prst="ellipse">
            <a:avLst/>
          </a:prstGeom>
          <a:solidFill>
            <a:srgbClr val="E18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4023360"/>
            <a:ext cx="210312" cy="210312"/>
          </a:xfrm>
          <a:prstGeom prst="ellipse">
            <a:avLst/>
          </a:prstGeom>
          <a:solidFill>
            <a:srgbClr val="E18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0" y="3611880"/>
            <a:ext cx="210312" cy="210312"/>
          </a:xfrm>
          <a:prstGeom prst="ellipse">
            <a:avLst/>
          </a:prstGeom>
          <a:solidFill>
            <a:srgbClr val="E18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79" y="4206240"/>
            <a:ext cx="210312" cy="210312"/>
          </a:xfrm>
          <a:prstGeom prst="ellipse">
            <a:avLst/>
          </a:prstGeom>
          <a:solidFill>
            <a:srgbClr val="E18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7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Segoe UI Semibold"/>
              </a:defRPr>
            </a:pPr>
            <a:r>
              <a:t>Empowering teachers and transforming learning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DC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11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Segoe UI Semibold"/>
              </a:defRPr>
            </a:pPr>
            <a:r>
              <a:t>The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70432"/>
            <a:ext cx="57150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222A35"/>
                </a:solidFill>
                <a:latin typeface="Segoe UI"/>
              </a:defRPr>
            </a:pPr>
            <a:r>
              <a:t>Teachers overloaded with manual grading</a:t>
            </a:r>
          </a:p>
          <a:p>
            <a:pPr>
              <a:spcAft>
                <a:spcPts val="1400"/>
              </a:spcAft>
              <a:defRPr sz="2400">
                <a:solidFill>
                  <a:srgbClr val="222A35"/>
                </a:solidFill>
                <a:latin typeface="Segoe UI"/>
              </a:defRPr>
            </a:pPr>
            <a:r>
              <a:t>Delayed feedback and generic responses</a:t>
            </a:r>
          </a:p>
          <a:p>
            <a:pPr>
              <a:spcAft>
                <a:spcPts val="1400"/>
              </a:spcAft>
              <a:defRPr sz="2400">
                <a:solidFill>
                  <a:srgbClr val="222A35"/>
                </a:solidFill>
                <a:latin typeface="Segoe UI"/>
              </a:defRPr>
            </a:pPr>
            <a:r>
              <a:t>Limited insights for personalized learning</a:t>
            </a:r>
          </a:p>
          <a:p>
            <a:pPr>
              <a:spcAft>
                <a:spcPts val="1400"/>
              </a:spcAft>
              <a:defRPr sz="2400">
                <a:solidFill>
                  <a:srgbClr val="222A35"/>
                </a:solidFill>
                <a:latin typeface="Segoe UI"/>
              </a:defRPr>
            </a:pPr>
            <a:r>
              <a:t>Students unaware of learning gaps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257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7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oblem_563x5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243584"/>
            <a:ext cx="5148072" cy="478231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7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37376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1">
                <a:solidFill>
                  <a:srgbClr val="FFFFFF"/>
                </a:solidFill>
                <a:latin typeface="Segoe UI Semibold"/>
              </a:defRPr>
            </a:pPr>
            <a:r>
              <a:t>Empowering Teachers, Transforming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DC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11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Segoe UI Semibold"/>
              </a:defRPr>
            </a:pPr>
            <a:r>
              <a:t>Our Mission &amp;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715000" cy="4800600"/>
          </a:xfrm>
          <a:prstGeom prst="roundRect">
            <a:avLst/>
          </a:prstGeom>
          <a:solidFill>
            <a:srgbClr val="F3FAF6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2120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79F55"/>
                </a:solidFill>
                <a:latin typeface="Segoe UI Semibold"/>
              </a:defRPr>
            </a:pPr>
            <a:r>
              <a:t>Mission: Empower teachers to transform learning with AI</a:t>
            </a:r>
          </a:p>
          <a:p>
            <a:pPr>
              <a:spcBef>
                <a:spcPts val="3000"/>
              </a:spcBef>
              <a:defRPr sz="2500" b="1">
                <a:solidFill>
                  <a:srgbClr val="B3222F"/>
                </a:solidFill>
                <a:latin typeface="Segoe UI Semibold"/>
              </a:defRPr>
            </a:pPr>
            <a:r>
              <a:t>Vision: A future where every student receives personalized education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53312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7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ission_563x4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408176"/>
            <a:ext cx="5148072" cy="4416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87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37376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1">
                <a:solidFill>
                  <a:srgbClr val="FFFFFF"/>
                </a:solidFill>
                <a:latin typeface="Segoe UI Semibold"/>
              </a:defRPr>
            </a:pPr>
            <a:r>
              <a:t>Empowering Teachers, Transforming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DC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11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Segoe UI Semibold"/>
              </a:defRPr>
            </a:pPr>
            <a:r>
              <a:t>Our Solution: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"/>
            <a:ext cx="4069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 i="1">
                <a:solidFill>
                  <a:srgbClr val="FFFFFF"/>
                </a:solidFill>
                <a:latin typeface="Segoe UI Semibold"/>
              </a:defRPr>
            </a:pPr>
            <a:r>
              <a:t>Teacher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18872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 i="0">
                <a:solidFill>
                  <a:srgbClr val="279F55"/>
                </a:solidFill>
                <a:latin typeface="Segoe UI Semibold"/>
              </a:defRPr>
            </a:pPr>
            <a:r>
              <a:t>Current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18872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 i="0">
                <a:solidFill>
                  <a:srgbClr val="E1861F"/>
                </a:solidFill>
                <a:latin typeface="Segoe UI Semibold"/>
              </a:defRPr>
            </a:pPr>
            <a:r>
              <a:t>Optimized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4480560" cy="914400"/>
          </a:xfrm>
          <a:prstGeom prst="roundRect">
            <a:avLst/>
          </a:prstGeom>
          <a:solidFill>
            <a:srgbClr val="279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75104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Segoe UI Semibold"/>
              </a:defRPr>
            </a:pPr>
            <a:r>
              <a:t>Manual Grading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4846320" cy="914400"/>
          </a:xfrm>
          <a:prstGeom prst="roundRect">
            <a:avLst/>
          </a:prstGeom>
          <a:solidFill>
            <a:srgbClr val="E18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75104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Segoe UI Semibold"/>
              </a:defRPr>
            </a:pPr>
            <a:r>
              <a:t>AI Grading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321808" y="1911095"/>
            <a:ext cx="914400" cy="475488"/>
          </a:xfrm>
          <a:prstGeom prst="rightArrow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999232"/>
            <a:ext cx="4480560" cy="914400"/>
          </a:xfrm>
          <a:prstGeom prst="roundRect">
            <a:avLst/>
          </a:prstGeom>
          <a:solidFill>
            <a:srgbClr val="279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82696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Segoe UI Semibold"/>
              </a:defRPr>
            </a:pPr>
            <a:r>
              <a:t>Basic Feedback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999232"/>
            <a:ext cx="4846320" cy="914400"/>
          </a:xfrm>
          <a:prstGeom prst="roundRect">
            <a:avLst/>
          </a:prstGeom>
          <a:solidFill>
            <a:srgbClr val="E18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282696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Segoe UI Semibold"/>
              </a:defRPr>
            </a:pPr>
            <a:r>
              <a:t>Instant Feedback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321808" y="3218688"/>
            <a:ext cx="914400" cy="475488"/>
          </a:xfrm>
          <a:prstGeom prst="rightArrow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306824"/>
            <a:ext cx="4480560" cy="914400"/>
          </a:xfrm>
          <a:prstGeom prst="roundRect">
            <a:avLst/>
          </a:prstGeom>
          <a:solidFill>
            <a:srgbClr val="279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9028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Segoe UI Semibold"/>
              </a:defRPr>
            </a:pPr>
            <a:r>
              <a:t>Slow Reports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306824"/>
            <a:ext cx="4846320" cy="914400"/>
          </a:xfrm>
          <a:prstGeom prst="roundRect">
            <a:avLst/>
          </a:prstGeom>
          <a:solidFill>
            <a:srgbClr val="E18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590288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Segoe UI Semibold"/>
              </a:defRPr>
            </a:pPr>
            <a:r>
              <a:t>Analytics &amp; Alerts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321808" y="4526280"/>
            <a:ext cx="914400" cy="475488"/>
          </a:xfrm>
          <a:prstGeom prst="rightArrow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DC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11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Segoe UI Semibold"/>
              </a:defRPr>
            </a:pPr>
            <a:r>
              <a:t>Market Opportunity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5778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pezoid 8"/>
          <p:cNvSpPr/>
          <p:nvPr/>
        </p:nvSpPr>
        <p:spPr>
          <a:xfrm>
            <a:off x="1188720" y="1828800"/>
            <a:ext cx="4297680" cy="1097280"/>
          </a:xfrm>
          <a:prstGeom prst="trapezoid">
            <a:avLst/>
          </a:prstGeom>
          <a:solidFill>
            <a:srgbClr val="1D7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984248"/>
            <a:ext cx="3931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 Semibold"/>
              </a:defRPr>
            </a:pPr>
            <a:r>
              <a:t>TAM</a:t>
            </a:r>
            <a:br/>
            <a:r>
              <a:t>2.5M Schools</a:t>
            </a:r>
            <a:br/>
            <a:r>
              <a:t>$600M+</a:t>
            </a:r>
          </a:p>
        </p:txBody>
      </p:sp>
      <p:sp>
        <p:nvSpPr>
          <p:cNvPr id="11" name="Trapezoid 10"/>
          <p:cNvSpPr/>
          <p:nvPr/>
        </p:nvSpPr>
        <p:spPr>
          <a:xfrm>
            <a:off x="1463040" y="2999232"/>
            <a:ext cx="3749039" cy="1005840"/>
          </a:xfrm>
          <a:prstGeom prst="trapezoid">
            <a:avLst/>
          </a:prstGeom>
          <a:solidFill>
            <a:srgbClr val="32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154679"/>
            <a:ext cx="33832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 Semibold"/>
              </a:defRPr>
            </a:pPr>
            <a:r>
              <a:t>SAM</a:t>
            </a:r>
            <a:br/>
            <a:r>
              <a:t>Targetable 32M Schools</a:t>
            </a:r>
          </a:p>
        </p:txBody>
      </p:sp>
      <p:sp>
        <p:nvSpPr>
          <p:cNvPr id="13" name="Trapezoid 12"/>
          <p:cNvSpPr/>
          <p:nvPr/>
        </p:nvSpPr>
        <p:spPr>
          <a:xfrm>
            <a:off x="1737360" y="4050791"/>
            <a:ext cx="3200400" cy="914400"/>
          </a:xfrm>
          <a:prstGeom prst="trapezoid">
            <a:avLst/>
          </a:prstGeom>
          <a:solidFill>
            <a:srgbClr val="D88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4206240"/>
            <a:ext cx="2834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 Semibold"/>
              </a:defRPr>
            </a:pPr>
            <a:r>
              <a:t>SOM</a:t>
            </a:r>
            <a:br/>
            <a:r>
              <a:t>Pilot 5 Schools</a:t>
            </a:r>
            <a:br/>
            <a:r>
              <a:t>$20M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399032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7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arket_553x4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3" y="1453896"/>
            <a:ext cx="5056632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DC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11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Segoe UI Semibold"/>
              </a:defRPr>
            </a:pPr>
            <a:r>
              <a:t>Business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5029200" cy="3063240"/>
          </a:xfrm>
          <a:prstGeom prst="roundRect">
            <a:avLst/>
          </a:prstGeom>
          <a:solidFill>
            <a:srgbClr val="E18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39112"/>
            <a:ext cx="45720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 i="0">
                <a:solidFill>
                  <a:srgbClr val="FFFFFF"/>
                </a:solidFill>
                <a:latin typeface="Segoe UI Semibold"/>
              </a:defRPr>
            </a:pPr>
            <a:r>
              <a:t>B2B (Schools)</a:t>
            </a:r>
            <a:br/>
            <a:r>
              <a:t>$6,000 per school/year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15968"/>
            <a:ext cx="502920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029200" cy="3063240"/>
          </a:xfrm>
          <a:prstGeom prst="roundRect">
            <a:avLst/>
          </a:prstGeom>
          <a:solidFill>
            <a:srgbClr val="279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39112"/>
            <a:ext cx="45720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 i="0">
                <a:solidFill>
                  <a:srgbClr val="FFFFFF"/>
                </a:solidFill>
                <a:latin typeface="Segoe UI Semibold"/>
              </a:defRPr>
            </a:pPr>
            <a:r>
              <a:t>B2G (Government)</a:t>
            </a:r>
            <a:br/>
            <a:r>
              <a:t>$600,000 per country/year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315968"/>
            <a:ext cx="502920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DC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11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Segoe UI Semibold"/>
              </a:defRPr>
            </a:pPr>
            <a:r>
              <a:t>Value Proposition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760720" cy="4572000"/>
          </a:xfrm>
          <a:prstGeom prst="roundRect">
            <a:avLst/>
          </a:prstGeom>
          <a:solidFill>
            <a:srgbClr val="E6F1FC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22A35"/>
                </a:solidFill>
                <a:latin typeface="Segoe UI"/>
              </a:defRPr>
            </a:pPr>
            <a:r>
              <a:t>For Teachers: Save time and actionable insights</a:t>
            </a:r>
          </a:p>
          <a:p>
            <a:pPr>
              <a:spcAft>
                <a:spcPts val="1600"/>
              </a:spcAft>
              <a:defRPr sz="2300">
                <a:solidFill>
                  <a:srgbClr val="222A35"/>
                </a:solidFill>
                <a:latin typeface="Segoe UI"/>
              </a:defRPr>
            </a:pPr>
            <a:r>
              <a:t>For Students: Personalized learning support</a:t>
            </a:r>
          </a:p>
          <a:p>
            <a:pPr>
              <a:spcAft>
                <a:spcPts val="1600"/>
              </a:spcAft>
              <a:defRPr sz="2300">
                <a:solidFill>
                  <a:srgbClr val="222A35"/>
                </a:solidFill>
                <a:latin typeface="Segoe UI"/>
              </a:defRPr>
            </a:pPr>
            <a:r>
              <a:t>For Schools &amp; Governments: Scalable cost efficiency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508760"/>
            <a:ext cx="4937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7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alue_528x4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1563624"/>
            <a:ext cx="4828032" cy="43251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DC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11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Segoe UI Semibold"/>
              </a:defRPr>
            </a:pPr>
            <a:r>
              <a:t>Our 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669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52120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22A35"/>
                </a:solidFill>
                <a:latin typeface="Segoe UI"/>
              </a:defRPr>
            </a:pPr>
            <a:r>
              <a:t>5 schools launched in Rwanda &amp; Ghana</a:t>
            </a:r>
          </a:p>
          <a:p>
            <a:pPr>
              <a:spcAft>
                <a:spcPts val="1600"/>
              </a:spcAft>
              <a:defRPr sz="2300">
                <a:solidFill>
                  <a:srgbClr val="222A35"/>
                </a:solidFill>
                <a:latin typeface="Segoe UI"/>
              </a:defRPr>
            </a:pPr>
            <a:r>
              <a:t>Pipeline: 10 schools in Senegal &amp; Kenya</a:t>
            </a:r>
          </a:p>
          <a:p>
            <a:pPr>
              <a:spcAft>
                <a:spcPts val="1600"/>
              </a:spcAft>
              <a:defRPr sz="2300">
                <a:solidFill>
                  <a:srgbClr val="222A35"/>
                </a:solidFill>
                <a:latin typeface="Segoe UI"/>
              </a:defRPr>
            </a:pPr>
            <a:r>
              <a:t>Positive pilot results with high teacher satisfaction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7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action_558x4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1563624"/>
            <a:ext cx="5102352" cy="43251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DC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11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Segoe UI Semibold"/>
              </a:defRPr>
            </a:pPr>
            <a:r>
              <a:t>Revenue Projections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669280" cy="1005840"/>
          </a:xfrm>
          <a:prstGeom prst="round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Segoe UI Semibold"/>
              </a:defRPr>
            </a:pPr>
            <a:r>
              <a:t>Year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911095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Segoe UI Semibold"/>
              </a:defRPr>
            </a:pPr>
            <a:r>
              <a:t>$5.4M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34056"/>
            <a:ext cx="5669280" cy="1005840"/>
          </a:xfrm>
          <a:prstGeom prst="roundRect">
            <a:avLst/>
          </a:prstGeom>
          <a:solidFill>
            <a:srgbClr val="07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08376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Segoe UI Semibold"/>
              </a:defRPr>
            </a:pPr>
            <a:r>
              <a:t>Year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999232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Segoe UI Semibold"/>
              </a:defRPr>
            </a:pPr>
            <a:r>
              <a:t>$14.4M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22191"/>
            <a:ext cx="5669280" cy="1005840"/>
          </a:xfrm>
          <a:prstGeom prst="roundRect">
            <a:avLst/>
          </a:prstGeom>
          <a:solidFill>
            <a:srgbClr val="E18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96511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Segoe UI Semibold"/>
              </a:defRPr>
            </a:pPr>
            <a:r>
              <a:t>Year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087368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Segoe UI Semibold"/>
              </a:defRPr>
            </a:pPr>
            <a:r>
              <a:t>$248M+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4389120"/>
            <a:ext cx="512064" cy="1097280"/>
          </a:xfrm>
          <a:prstGeom prst="rect">
            <a:avLst/>
          </a:prstGeom>
          <a:solidFill>
            <a:srgbClr val="DC9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3703320"/>
            <a:ext cx="512064" cy="1783080"/>
          </a:xfrm>
          <a:prstGeom prst="rect">
            <a:avLst/>
          </a:prstGeom>
          <a:solidFill>
            <a:srgbClr val="279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33104" y="2926080"/>
            <a:ext cx="512064" cy="2560320"/>
          </a:xfrm>
          <a:prstGeom prst="rect">
            <a:avLst/>
          </a:prstGeom>
          <a:solidFill>
            <a:srgbClr val="84C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 Arrow 19"/>
          <p:cNvSpPr/>
          <p:nvPr/>
        </p:nvSpPr>
        <p:spPr>
          <a:xfrm>
            <a:off x="6537960" y="2926080"/>
            <a:ext cx="4480560" cy="2697480"/>
          </a:xfrm>
          <a:prstGeom prst="upArrow">
            <a:avLst/>
          </a:prstGeom>
          <a:solidFill>
            <a:srgbClr val="2B9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DC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11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Segoe UI Semibold"/>
              </a:defRPr>
            </a:pPr>
            <a:r>
              <a:t>Go-To-Market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222A35"/>
                </a:solidFill>
                <a:latin typeface="Segoe UI Semibold"/>
              </a:defRPr>
            </a:pPr>
            <a:r>
              <a:t>Year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2656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 i="0">
                <a:solidFill>
                  <a:srgbClr val="222A35"/>
                </a:solidFill>
                <a:latin typeface="Segoe UI Semibold"/>
              </a:defRPr>
            </a:pPr>
            <a:r>
              <a:t>$5.4M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4983480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222A35"/>
                </a:solidFill>
                <a:latin typeface="Segoe UI Semibold"/>
              </a:defRPr>
            </a:pPr>
            <a:r>
              <a:t>Year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962656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 i="0">
                <a:solidFill>
                  <a:srgbClr val="222A35"/>
                </a:solidFill>
                <a:latin typeface="Segoe UI Semibold"/>
              </a:defRPr>
            </a:pPr>
            <a:r>
              <a:t>$14.4M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983480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222A35"/>
                </a:solidFill>
                <a:latin typeface="Segoe UI Semibold"/>
              </a:defRPr>
            </a:pPr>
            <a:r>
              <a:t>Year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962656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 i="0">
                <a:solidFill>
                  <a:srgbClr val="222A35"/>
                </a:solidFill>
                <a:latin typeface="Segoe UI Semibold"/>
              </a:defRPr>
            </a:pPr>
            <a:r>
              <a:t>$248M+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206240"/>
            <a:ext cx="493776" cy="640080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4023359"/>
            <a:ext cx="493776" cy="822960"/>
          </a:xfrm>
          <a:prstGeom prst="rect">
            <a:avLst/>
          </a:prstGeom>
          <a:solidFill>
            <a:srgbClr val="07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3383279"/>
            <a:ext cx="493776" cy="1463040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02352" y="3383279"/>
            <a:ext cx="493776" cy="1463040"/>
          </a:xfrm>
          <a:prstGeom prst="rect">
            <a:avLst/>
          </a:prstGeom>
          <a:solidFill>
            <a:srgbClr val="07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2880360"/>
            <a:ext cx="493776" cy="1965960"/>
          </a:xfrm>
          <a:prstGeom prst="rect">
            <a:avLst/>
          </a:prstGeom>
          <a:solidFill>
            <a:srgbClr val="E18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331720"/>
            <a:ext cx="493776" cy="2514600"/>
          </a:xfrm>
          <a:prstGeom prst="rect">
            <a:avLst/>
          </a:prstGeom>
          <a:solidFill>
            <a:srgbClr val="C94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42832" y="1920239"/>
            <a:ext cx="493776" cy="2926080"/>
          </a:xfrm>
          <a:prstGeom prst="rect">
            <a:avLst/>
          </a:prstGeom>
          <a:solidFill>
            <a:srgbClr val="B94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p Arrow 20"/>
          <p:cNvSpPr/>
          <p:nvPr/>
        </p:nvSpPr>
        <p:spPr>
          <a:xfrm>
            <a:off x="731520" y="1828800"/>
            <a:ext cx="10469880" cy="2926080"/>
          </a:xfrm>
          <a:prstGeom prst="upArrow">
            <a:avLst/>
          </a:prstGeom>
          <a:solidFill>
            <a:srgbClr val="238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DC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11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Segoe UI Semibold"/>
              </a:defRPr>
            </a:pPr>
            <a:r>
              <a:t>Technology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669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700784"/>
            <a:ext cx="329184" cy="329184"/>
          </a:xfrm>
          <a:prstGeom prst="ellipse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682496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 i="0">
                <a:solidFill>
                  <a:srgbClr val="073458"/>
                </a:solidFill>
                <a:latin typeface="Segoe UI Semibold"/>
              </a:defRPr>
            </a:pPr>
            <a:r>
              <a:t>AI Grading Engine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688336"/>
            <a:ext cx="329184" cy="329184"/>
          </a:xfrm>
          <a:prstGeom prst="ellipse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670048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 i="0">
                <a:solidFill>
                  <a:srgbClr val="073458"/>
                </a:solidFill>
                <a:latin typeface="Segoe UI Semibold"/>
              </a:defRPr>
            </a:pPr>
            <a:r>
              <a:t>Analytics Dashboard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675888"/>
            <a:ext cx="329184" cy="329184"/>
          </a:xfrm>
          <a:prstGeom prst="ellipse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657600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 i="0">
                <a:solidFill>
                  <a:srgbClr val="073458"/>
                </a:solidFill>
                <a:latin typeface="Segoe UI Semibold"/>
              </a:defRPr>
            </a:pPr>
            <a:r>
              <a:t>Cloud-Based Platform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663440"/>
            <a:ext cx="329184" cy="329184"/>
          </a:xfrm>
          <a:prstGeom prst="ellipse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64515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 i="0">
                <a:solidFill>
                  <a:srgbClr val="073458"/>
                </a:solidFill>
                <a:latin typeface="Segoe UI Semibold"/>
              </a:defRPr>
            </a:pPr>
            <a:r>
              <a:t>LMS Integrations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08760"/>
            <a:ext cx="5166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7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echnology_553x4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563624"/>
            <a:ext cx="5056632" cy="43251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DC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11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Segoe UI Semibold"/>
              </a:defRPr>
            </a:pPr>
            <a:r>
              <a:t>Impact &amp;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669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52120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22A35"/>
                </a:solidFill>
                <a:latin typeface="Segoe UI"/>
              </a:defRPr>
            </a:pPr>
            <a:r>
              <a:t>Teacher hours saved</a:t>
            </a:r>
          </a:p>
          <a:p>
            <a:pPr>
              <a:spcAft>
                <a:spcPts val="1600"/>
              </a:spcAft>
              <a:defRPr sz="2300">
                <a:solidFill>
                  <a:srgbClr val="222A35"/>
                </a:solidFill>
                <a:latin typeface="Segoe UI"/>
              </a:defRPr>
            </a:pPr>
            <a:r>
              <a:t>Student engagement +40%</a:t>
            </a:r>
          </a:p>
          <a:p>
            <a:pPr>
              <a:spcAft>
                <a:spcPts val="1600"/>
              </a:spcAft>
              <a:defRPr sz="2300">
                <a:solidFill>
                  <a:srgbClr val="222A35"/>
                </a:solidFill>
                <a:latin typeface="Segoe UI"/>
              </a:defRPr>
            </a:pPr>
            <a:r>
              <a:t>Faster feedback: 75% reduction</a:t>
            </a:r>
          </a:p>
          <a:p>
            <a:pPr>
              <a:spcAft>
                <a:spcPts val="1600"/>
              </a:spcAft>
              <a:defRPr sz="2300">
                <a:solidFill>
                  <a:srgbClr val="222A35"/>
                </a:solidFill>
                <a:latin typeface="Segoe UI"/>
              </a:defRPr>
            </a:pPr>
            <a:r>
              <a:t>Improved outcomes across pilot schools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720840" y="1554480"/>
          <a:ext cx="4663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DC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11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Segoe UI Semibold"/>
              </a:defRPr>
            </a:pPr>
            <a:r>
              <a:t>Funding 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46634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42062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22A35"/>
                </a:solidFill>
                <a:latin typeface="Segoe UI"/>
              </a:defRPr>
            </a:pPr>
            <a:r>
              <a:t>Raising $3M</a:t>
            </a:r>
          </a:p>
          <a:p>
            <a:pPr>
              <a:spcAft>
                <a:spcPts val="1400"/>
              </a:spcAft>
              <a:defRPr sz="2200">
                <a:solidFill>
                  <a:srgbClr val="222A35"/>
                </a:solidFill>
                <a:latin typeface="Segoe UI"/>
              </a:defRPr>
            </a:pPr>
            <a:r>
              <a:t>Product development</a:t>
            </a:r>
          </a:p>
          <a:p>
            <a:pPr>
              <a:spcAft>
                <a:spcPts val="1400"/>
              </a:spcAft>
              <a:defRPr sz="2200">
                <a:solidFill>
                  <a:srgbClr val="222A35"/>
                </a:solidFill>
                <a:latin typeface="Segoe UI"/>
              </a:defRPr>
            </a:pPr>
            <a:r>
              <a:t>Sales &amp; marketing</a:t>
            </a:r>
          </a:p>
          <a:p>
            <a:pPr>
              <a:spcAft>
                <a:spcPts val="1400"/>
              </a:spcAft>
              <a:defRPr sz="2200">
                <a:solidFill>
                  <a:srgbClr val="222A35"/>
                </a:solidFill>
                <a:latin typeface="Segoe UI"/>
              </a:defRPr>
            </a:pPr>
            <a:r>
              <a:t>School onboarding</a:t>
            </a:r>
          </a:p>
          <a:p>
            <a:pPr>
              <a:spcAft>
                <a:spcPts val="1400"/>
              </a:spcAft>
              <a:defRPr sz="2200">
                <a:solidFill>
                  <a:srgbClr val="222A35"/>
                </a:solidFill>
                <a:latin typeface="Segoe UI"/>
              </a:defRPr>
            </a:pPr>
            <a:r>
              <a:t>Operations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166360" y="1828800"/>
          <a:ext cx="35661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1554480"/>
            <a:ext cx="2697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7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arket_283x46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1609344"/>
            <a:ext cx="2587752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DC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11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Segoe UI Semibold"/>
              </a:defRPr>
            </a:pPr>
            <a:r>
              <a:t>Our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697480" cy="4663440"/>
          </a:xfrm>
          <a:prstGeom prst="roundRect">
            <a:avLst/>
          </a:prstGeom>
          <a:solidFill>
            <a:srgbClr val="FAFBFC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1700784"/>
            <a:ext cx="237744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7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am_1_248x3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755648"/>
            <a:ext cx="2267712" cy="2999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02920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222A35"/>
                </a:solidFill>
                <a:latin typeface="Segoe UI Semibold"/>
              </a:defRPr>
            </a:pPr>
            <a:r>
              <a:t>Founder &amp; CEO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463040"/>
            <a:ext cx="2697480" cy="4663440"/>
          </a:xfrm>
          <a:prstGeom prst="roundRect">
            <a:avLst/>
          </a:prstGeom>
          <a:solidFill>
            <a:srgbClr val="FAFBFC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39" y="1700784"/>
            <a:ext cx="237744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7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eam_2_248x3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903" y="1755648"/>
            <a:ext cx="2267712" cy="2999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75887" y="502920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222A35"/>
                </a:solidFill>
                <a:latin typeface="Segoe UI Semibold"/>
              </a:defRPr>
            </a:pPr>
            <a:r>
              <a:t>CTO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7376" y="1463040"/>
            <a:ext cx="2697480" cy="4663440"/>
          </a:xfrm>
          <a:prstGeom prst="roundRect">
            <a:avLst/>
          </a:prstGeom>
          <a:solidFill>
            <a:srgbClr val="FAFBFC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01968" y="1700784"/>
            <a:ext cx="237744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7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eam_3_248x32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1" y="1755648"/>
            <a:ext cx="2267712" cy="29992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28816" y="502920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222A35"/>
                </a:solidFill>
                <a:latin typeface="Segoe UI Semibold"/>
              </a:defRPr>
            </a:pPr>
            <a:r>
              <a:t>Head of Partnerships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0304" y="1463040"/>
            <a:ext cx="2697480" cy="4663440"/>
          </a:xfrm>
          <a:prstGeom prst="roundRect">
            <a:avLst/>
          </a:prstGeom>
          <a:solidFill>
            <a:srgbClr val="FAFBFC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54896" y="1700784"/>
            <a:ext cx="237744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7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eam_4_248x32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755648"/>
            <a:ext cx="2267712" cy="29992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81744" y="502920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222A35"/>
                </a:solidFill>
                <a:latin typeface="Segoe UI Semibold"/>
              </a:defRPr>
            </a:pPr>
            <a:r>
              <a:t>Education Advisors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DC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11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Segoe UI Semibold"/>
              </a:defRPr>
            </a:pPr>
            <a:r>
              <a:t>Join Us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"/>
            <a:ext cx="4069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 i="1">
                <a:solidFill>
                  <a:srgbClr val="FFFFFF"/>
                </a:solidFill>
                <a:latin typeface="Segoe UI Semibold"/>
              </a:defRPr>
            </a:pPr>
            <a:r>
              <a:t>Transform African Education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669280" cy="4206240"/>
          </a:xfrm>
          <a:prstGeom prst="roundRect">
            <a:avLst/>
          </a:prstGeom>
          <a:solidFill>
            <a:srgbClr val="EFF8FF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4892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 i="1">
                <a:solidFill>
                  <a:srgbClr val="073458"/>
                </a:solidFill>
                <a:latin typeface="Segoe UI Semibold"/>
              </a:defRPr>
            </a:pPr>
            <a:r>
              <a:t>Partner with us</a:t>
            </a:r>
            <a:br/>
            <a:r>
              <a:t>To empower teachers &amp;</a:t>
            </a:r>
            <a:br/>
            <a:r>
              <a:t>students across Africa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2120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C7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osing_558x3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700784"/>
            <a:ext cx="5102352" cy="350215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A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1447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 i="0">
                <a:solidFill>
                  <a:srgbClr val="FFFFFF"/>
                </a:solidFill>
                <a:latin typeface="Segoe UI Semibold"/>
              </a:defRPr>
            </a:pPr>
            <a:r>
              <a:t>Contact Us: email@example.com  |  www.teachercopilot.com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